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8" r:id="rId6"/>
    <p:sldId id="270" r:id="rId7"/>
    <p:sldId id="265" r:id="rId8"/>
    <p:sldId id="267" r:id="rId9"/>
    <p:sldId id="269" r:id="rId10"/>
    <p:sldId id="263" r:id="rId11"/>
    <p:sldId id="262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E3551-C525-D788-0762-3A9E45AEC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DC809-DAE5-0800-96C0-DDE5EE7D2B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6203A-69F8-F7D9-105E-512C18731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08EE-E000-4AED-8AFA-7FC947145FBC}" type="datetimeFigureOut">
              <a:rPr lang="en-US" smtClean="0"/>
              <a:t>23-Sep-25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7B80A-B907-1E05-BBDD-03104CFA1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EABC2-C752-58D3-87B1-E3704F545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C7E60-F48E-4DE7-9EC2-DDDACBF4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463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5BFE3-E2A3-F9DC-4FFE-A10744BD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77BBC-6E95-D774-094A-6690DED14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91480-F99A-EAA3-C9E5-E3EA7BE8E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08EE-E000-4AED-8AFA-7FC947145FBC}" type="datetimeFigureOut">
              <a:rPr lang="en-US" smtClean="0"/>
              <a:t>23-Sep-25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10300-1F49-27B3-35F6-085F067E4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992AB-0271-C90E-1296-19150B8B5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C7E60-F48E-4DE7-9EC2-DDDACBF4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9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EB5D9-ADEF-99D3-36F3-C49613C9F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6773A-8E98-492F-F31B-7BE8BD6AB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75A1C-715E-DBBD-F4A7-64C2A1A2C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08EE-E000-4AED-8AFA-7FC947145FBC}" type="datetimeFigureOut">
              <a:rPr lang="en-US" smtClean="0"/>
              <a:t>23-Sep-25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26D5C-D996-36CE-8202-851382C6C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E6505-A61F-C437-37D5-3353AB48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C7E60-F48E-4DE7-9EC2-DDDACBF4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727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2807-E728-055B-F09E-C6206C166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64061-E8B8-2A80-F5A2-7373F59A1B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A6AF1-C7A5-7F60-5EE2-115BCA9B7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DBB0A-C218-646B-2768-594B91144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08EE-E000-4AED-8AFA-7FC947145FBC}" type="datetimeFigureOut">
              <a:rPr lang="en-US" smtClean="0"/>
              <a:t>23-Sep-25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5CFB3-BC66-614F-0050-B35169E9A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C3C74-8903-4DC7-2670-909A43225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C7E60-F48E-4DE7-9EC2-DDDACBF4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77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D2A08-1CDF-6ED2-106B-B315F8420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24B0C-03B1-FC6C-A1BC-A8D73616C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77DA92-E3A4-0EE3-3E98-B75233114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8F07B8-008A-D539-6C84-D16FEB399F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7F98BD-C122-54FB-B61F-BD8886CF98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AA0233-B1B5-2F4E-2892-A2174477D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08EE-E000-4AED-8AFA-7FC947145FBC}" type="datetimeFigureOut">
              <a:rPr lang="en-US" smtClean="0"/>
              <a:t>23-Sep-25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02A0A6-79E3-6D53-D254-343610BEA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98DBE1-5757-8D03-4E56-43931F74E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C7E60-F48E-4DE7-9EC2-DDDACBF4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75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290B3-42F0-3C4F-85C1-432C19415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07A6F0-8748-5D45-5773-22DB47AED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08EE-E000-4AED-8AFA-7FC947145FBC}" type="datetimeFigureOut">
              <a:rPr lang="en-US" smtClean="0"/>
              <a:t>23-Sep-25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F46A40-1862-8BE2-42A5-3B423BFE6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E0C3DF-7110-C5CD-A02B-85493C9E6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C7E60-F48E-4DE7-9EC2-DDDACBF4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67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1B3045-4BD0-EE06-C2E6-D8FDBB4C5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08EE-E000-4AED-8AFA-7FC947145FBC}" type="datetimeFigureOut">
              <a:rPr lang="en-US" smtClean="0"/>
              <a:t>23-Sep-25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441E35-DF62-B558-FBEF-1ECE9D6B9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AA23C-2B08-6114-B1D8-C78768B7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C7E60-F48E-4DE7-9EC2-DDDACBF4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33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77422-2757-26E0-2DBB-B1927C18E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5F4E7-2133-0284-C0C0-6EE5C2498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2A92BA-BAAD-658A-D5F6-2ACF82A0C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F14F5-A24C-4036-A6F2-D1195FBE0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08EE-E000-4AED-8AFA-7FC947145FBC}" type="datetimeFigureOut">
              <a:rPr lang="en-US" smtClean="0"/>
              <a:t>23-Sep-25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DE10A-6BDA-49C9-3FD9-DC950F178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ABB39-CE57-6738-5258-E197AC651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C7E60-F48E-4DE7-9EC2-DDDACBF4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0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9E4A1-5AD6-6FE6-DADA-9A35E0307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41EA4D-4C2F-AA78-FBB5-FE46377E10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18A58-4EDA-B7AB-45E2-B502982C6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844996-23D6-B6BC-7463-5D6F2DAB2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08EE-E000-4AED-8AFA-7FC947145FBC}" type="datetimeFigureOut">
              <a:rPr lang="en-US" smtClean="0"/>
              <a:t>23-Sep-25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F14D1-DF73-8E0B-274C-021FDCA3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4CF83-7814-5A43-65A3-F1E9CF921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C7E60-F48E-4DE7-9EC2-DDDACBF4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6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6756D-E553-79E6-D2A4-34A398371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9B968D-7C5A-D145-1B3D-2E85C0C0E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97329-6194-B223-7341-C447B74B6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08EE-E000-4AED-8AFA-7FC947145FBC}" type="datetimeFigureOut">
              <a:rPr lang="en-US" smtClean="0"/>
              <a:t>23-Sep-25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79D80-9F9F-5098-200F-23898D312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33A3E-B1B3-134B-7FC9-BE782F3D4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C7E60-F48E-4DE7-9EC2-DDDACBF4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39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444D7-E4C4-070E-092B-973B170F4A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606FDE-2E83-D6D3-C97C-FFCF942C7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6F537-9C31-7DFA-619A-7FBDD0685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08EE-E000-4AED-8AFA-7FC947145FBC}" type="datetimeFigureOut">
              <a:rPr lang="en-US" smtClean="0"/>
              <a:t>23-Sep-25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EE13E-2619-6FC4-22F5-10601B60C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4CE37-DA95-C344-B4B2-5171A1D7F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C7E60-F48E-4DE7-9EC2-DDDACBF4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130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DB7F79-5018-2C07-311D-46A146576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41BCF-A63D-6AE3-18EA-2F5992CD4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63C14-7E56-121D-E936-27D68B6A8D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608EE-E000-4AED-8AFA-7FC947145FBC}" type="datetimeFigureOut">
              <a:rPr lang="en-US" smtClean="0"/>
              <a:t>23-Sep-25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ED5D0-BEE1-7D50-70E6-948BEFBD76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1DF9B-1D2A-0360-0EA7-963E4687FE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C7E60-F48E-4DE7-9EC2-DDDACBF4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1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5850758-1A60-030F-E54A-4F5B8286DFEA}"/>
              </a:ext>
            </a:extLst>
          </p:cNvPr>
          <p:cNvSpPr txBox="1"/>
          <p:nvPr/>
        </p:nvSpPr>
        <p:spPr>
          <a:xfrm>
            <a:off x="2430380" y="1061764"/>
            <a:ext cx="7331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DESIGNING A UNIFIED THREAT MANAGEMENT SYSTEM FOR HOME NETWORKS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0C539A3-42FB-5C23-4FA9-ED348F163BCD}"/>
              </a:ext>
            </a:extLst>
          </p:cNvPr>
          <p:cNvCxnSpPr>
            <a:cxnSpLocks/>
          </p:cNvCxnSpPr>
          <p:nvPr/>
        </p:nvCxnSpPr>
        <p:spPr>
          <a:xfrm>
            <a:off x="2157664" y="1266302"/>
            <a:ext cx="0" cy="1347537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987D846-1C60-96E1-CCE8-449542619D8F}"/>
              </a:ext>
            </a:extLst>
          </p:cNvPr>
          <p:cNvSpPr txBox="1"/>
          <p:nvPr/>
        </p:nvSpPr>
        <p:spPr>
          <a:xfrm>
            <a:off x="6322192" y="3212990"/>
            <a:ext cx="5141238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Guided by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M. Blessy Queen Mary M.E, PH.D.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6D8102-B56B-008B-1EBD-F4F0533D8D98}"/>
              </a:ext>
            </a:extLst>
          </p:cNvPr>
          <p:cNvSpPr txBox="1"/>
          <p:nvPr/>
        </p:nvSpPr>
        <p:spPr>
          <a:xfrm>
            <a:off x="6322192" y="4136753"/>
            <a:ext cx="514123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Team Members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Aswin S 		- 	71772218102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Janardhan M 	- 	71772218116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Praghadeesh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 	- 	71772218138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Iyappan K 	- 	71772218L04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28293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35D46-9E0F-A692-6422-EF75F2061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606253-4E56-45B8-E4FD-57BB8B0C199C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D039BEA-036C-9EBC-ED71-1166651D7859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PROBLEM IDENTIFICATION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49C299-0E78-170B-3719-4FE27CC84910}"/>
              </a:ext>
            </a:extLst>
          </p:cNvPr>
          <p:cNvSpPr txBox="1"/>
          <p:nvPr/>
        </p:nvSpPr>
        <p:spPr>
          <a:xfrm>
            <a:off x="612140" y="1163636"/>
            <a:ext cx="10967720" cy="226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Existing System: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Home Routers focus on Connectivity and not Security.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Systems use basic firewalls/antivirus, limited to Layer 3/4 filtering.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Corporate UTM Solutions need high resources.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UTMs depend on paid signature updates, lack of dynamic IoC feeds.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D2A454-9264-BEEC-A8B8-36689C4D1EBF}"/>
              </a:ext>
            </a:extLst>
          </p:cNvPr>
          <p:cNvSpPr txBox="1"/>
          <p:nvPr/>
        </p:nvSpPr>
        <p:spPr>
          <a:xfrm>
            <a:off x="612140" y="3548123"/>
            <a:ext cx="11196320" cy="2680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Issues in the System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Home Network is the New Perimeter.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Explosive Growth with inadequate Defense.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dangerous vacuum in security, with users lacking technical expertise.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Security tools are isolated and not integrated.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638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44011-583B-B792-69A3-BFD4E1DDE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754938-A83C-5534-A732-021ACC0040B4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82942F7-039F-1D63-4F59-86C486B2C780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4E210C-F191-A5A7-2208-FB86F5A76113}"/>
              </a:ext>
            </a:extLst>
          </p:cNvPr>
          <p:cNvSpPr txBox="1"/>
          <p:nvPr/>
        </p:nvSpPr>
        <p:spPr>
          <a:xfrm>
            <a:off x="612140" y="1239473"/>
            <a:ext cx="10967720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design a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Smart Unified Threat Management System (SUTMS)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home networks.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Provide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corporate-grade security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personal/home devices like laptops, mobiles, and IoT gadgets.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 a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lightweight, cost-effective, and easy-to-deploy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solution using Raspberry Pi.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Ensure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multi-layered protection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Flow detection, Intrusion detection, Firewall, Anti-bot protection.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Reduce CPU/memory usage while maintaining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 detection accuracy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(≈99%).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8259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B5C31-2D39-A326-513F-2099A30B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D3981F-74DB-1798-1C39-815FC3D86AD8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FFEBBF9-0E8B-9CF3-C20E-AB7398F9DA00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C1C08E-83B3-DADC-2198-B005CB06C1FA}"/>
              </a:ext>
            </a:extLst>
          </p:cNvPr>
          <p:cNvSpPr txBox="1"/>
          <p:nvPr/>
        </p:nvSpPr>
        <p:spPr>
          <a:xfrm>
            <a:off x="612140" y="1325356"/>
            <a:ext cx="1096772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0" i="0" dirty="0">
                <a:effectLst/>
              </a:rPr>
              <a:t>Smart UTM System (SUTMS) on Raspberry Pi with Ubuntu OS.</a:t>
            </a:r>
            <a:endParaRPr lang="en-US" sz="20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23F94E-F2AD-C3CE-48C1-9401394A62B3}"/>
              </a:ext>
            </a:extLst>
          </p:cNvPr>
          <p:cNvSpPr txBox="1"/>
          <p:nvPr/>
        </p:nvSpPr>
        <p:spPr>
          <a:xfrm>
            <a:off x="612140" y="1831648"/>
            <a:ext cx="1096772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Integrated Features: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Flow Detection – detects anomalies, protocols, optimizes IDS signatures.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Intrusion Detection – detects &amp; prevents malicious traffic.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Firewall (</a:t>
            </a:r>
            <a:r>
              <a:rPr lang="en-US" dirty="0" err="1"/>
              <a:t>IPtables</a:t>
            </a:r>
            <a:r>
              <a:rPr lang="en-US" dirty="0"/>
              <a:t>) – dynamic anti-bot blocking.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Additional modules: Routing Engine, Logging Engine.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Provides real-time detection, prevention, and anomaly analysis.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Achieves lightweight, scalable, and automated home-network security.</a:t>
            </a:r>
          </a:p>
        </p:txBody>
      </p:sp>
    </p:spTree>
    <p:extLst>
      <p:ext uri="{BB962C8B-B14F-4D97-AF65-F5344CB8AC3E}">
        <p14:creationId xmlns:p14="http://schemas.microsoft.com/office/powerpoint/2010/main" val="994591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C570E-E205-5B2D-E658-F7271313C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3AB863-1338-9AF3-FD12-040F90FF6C6B}"/>
              </a:ext>
            </a:extLst>
          </p:cNvPr>
          <p:cNvCxnSpPr>
            <a:cxnSpLocks/>
          </p:cNvCxnSpPr>
          <p:nvPr/>
        </p:nvCxnSpPr>
        <p:spPr>
          <a:xfrm>
            <a:off x="0" y="9429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193C2D5-937A-055B-3F7F-E2E4202A3740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AD958C-052D-88B7-1A82-F9A33A302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41686"/>
              </p:ext>
            </p:extLst>
          </p:nvPr>
        </p:nvGraphicFramePr>
        <p:xfrm>
          <a:off x="297960" y="1106952"/>
          <a:ext cx="11596080" cy="5415301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971687">
                  <a:extLst>
                    <a:ext uri="{9D8B030D-6E8A-4147-A177-3AD203B41FA5}">
                      <a16:colId xmlns:a16="http://schemas.microsoft.com/office/drawing/2014/main" val="593865603"/>
                    </a:ext>
                  </a:extLst>
                </a:gridCol>
                <a:gridCol w="2557669">
                  <a:extLst>
                    <a:ext uri="{9D8B030D-6E8A-4147-A177-3AD203B41FA5}">
                      <a16:colId xmlns:a16="http://schemas.microsoft.com/office/drawing/2014/main" val="778775473"/>
                    </a:ext>
                  </a:extLst>
                </a:gridCol>
                <a:gridCol w="2186609">
                  <a:extLst>
                    <a:ext uri="{9D8B030D-6E8A-4147-A177-3AD203B41FA5}">
                      <a16:colId xmlns:a16="http://schemas.microsoft.com/office/drawing/2014/main" val="2495320688"/>
                    </a:ext>
                  </a:extLst>
                </a:gridCol>
                <a:gridCol w="2332383">
                  <a:extLst>
                    <a:ext uri="{9D8B030D-6E8A-4147-A177-3AD203B41FA5}">
                      <a16:colId xmlns:a16="http://schemas.microsoft.com/office/drawing/2014/main" val="362521330"/>
                    </a:ext>
                  </a:extLst>
                </a:gridCol>
                <a:gridCol w="2547732">
                  <a:extLst>
                    <a:ext uri="{9D8B030D-6E8A-4147-A177-3AD203B41FA5}">
                      <a16:colId xmlns:a16="http://schemas.microsoft.com/office/drawing/2014/main" val="3109739198"/>
                    </a:ext>
                  </a:extLst>
                </a:gridCol>
              </a:tblGrid>
              <a:tr h="4887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Problem/Objective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Method/Module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 Considerations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1280766"/>
                  </a:ext>
                </a:extLst>
              </a:tr>
              <a:tr h="1281486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Intrusion Detection for </a:t>
                      </a:r>
                      <a:r>
                        <a:rPr lang="en-US" sz="1400" dirty="0" err="1"/>
                        <a:t>IoT</a:t>
                      </a:r>
                      <a:r>
                        <a:rPr lang="en-US" sz="1400" dirty="0"/>
                        <a:t>-enabled Smart Homes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Smart homes face frequent cyber threats due to weak device security.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ML-based intrusion detection focusing on anomaly detection.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Must be lightweight, accurate, and adaptive.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Simulation-based, dataset-dependent, may not generalize to real </a:t>
                      </a:r>
                      <a:r>
                        <a:rPr lang="en-US" sz="1400" dirty="0" err="1"/>
                        <a:t>IoT</a:t>
                      </a:r>
                      <a:r>
                        <a:rPr lang="en-US" sz="1400" dirty="0"/>
                        <a:t> attacks.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264266"/>
                  </a:ext>
                </a:extLst>
              </a:tr>
              <a:tr h="1082143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Phishing/Malicious URL Detection with Raspberry 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Home networks often fail to detect phishing URLs; need cost-effective solution.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NETBITS on Raspberry Pi using URL feature analysis &amp; classification.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Low-cost hardware, real-time monitoring, feasible for small networks.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Focuses only on URL-based threats; Raspberry Pi has limited processing power.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938698"/>
                  </a:ext>
                </a:extLst>
              </a:tr>
              <a:tr h="1281486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Traffic Trace Artifacts from Port Mirroring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Port mirroring (SPAN) used for monitoring may distort traffic traces.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Studied artifacts like packet loss &amp; timing distortion in switches/routers.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IDS accuracy depends on fidelity of captured traces.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Only studies port mirroring, not other capture methods; based on older hardware.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0700214"/>
                  </a:ext>
                </a:extLst>
              </a:tr>
              <a:tr h="1281486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Performance of Open-source IDS in High-speed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IDS like Snort, </a:t>
                      </a:r>
                      <a:r>
                        <a:rPr lang="en-US" sz="1400" dirty="0" err="1"/>
                        <a:t>Suricata</a:t>
                      </a:r>
                      <a:r>
                        <a:rPr lang="en-US" sz="1400" dirty="0"/>
                        <a:t>, Bro face bottlenecks in </a:t>
                      </a:r>
                      <a:r>
                        <a:rPr lang="en-US" sz="1400" dirty="0" err="1"/>
                        <a:t>Gbps</a:t>
                      </a:r>
                      <a:r>
                        <a:rPr lang="en-US" sz="1400" dirty="0"/>
                        <a:t> traffic environments.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Benchmarked IDS performance (throughput, packet loss, detection accuracy).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Requires multi-threading, optimized rules, hardware acceleration.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Hardware-dependent results; focus on performance, not detection improvements.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71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4722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4B326-246C-9D69-B4BA-F0084321D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0A2BB7-D46F-146A-78E2-F80AC805A4CC}"/>
              </a:ext>
            </a:extLst>
          </p:cNvPr>
          <p:cNvCxnSpPr>
            <a:cxnSpLocks/>
          </p:cNvCxnSpPr>
          <p:nvPr/>
        </p:nvCxnSpPr>
        <p:spPr>
          <a:xfrm>
            <a:off x="0" y="9429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091EFDA-88A3-E4BE-D905-9596982EEA9E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9235A2-B5B5-041B-6C5C-F5F376C9D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147814"/>
              </p:ext>
            </p:extLst>
          </p:nvPr>
        </p:nvGraphicFramePr>
        <p:xfrm>
          <a:off x="297960" y="1106952"/>
          <a:ext cx="11596080" cy="532830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971687">
                  <a:extLst>
                    <a:ext uri="{9D8B030D-6E8A-4147-A177-3AD203B41FA5}">
                      <a16:colId xmlns:a16="http://schemas.microsoft.com/office/drawing/2014/main" val="593865603"/>
                    </a:ext>
                  </a:extLst>
                </a:gridCol>
                <a:gridCol w="2421623">
                  <a:extLst>
                    <a:ext uri="{9D8B030D-6E8A-4147-A177-3AD203B41FA5}">
                      <a16:colId xmlns:a16="http://schemas.microsoft.com/office/drawing/2014/main" val="778775473"/>
                    </a:ext>
                  </a:extLst>
                </a:gridCol>
                <a:gridCol w="2531165">
                  <a:extLst>
                    <a:ext uri="{9D8B030D-6E8A-4147-A177-3AD203B41FA5}">
                      <a16:colId xmlns:a16="http://schemas.microsoft.com/office/drawing/2014/main" val="2495320688"/>
                    </a:ext>
                  </a:extLst>
                </a:gridCol>
                <a:gridCol w="2054087">
                  <a:extLst>
                    <a:ext uri="{9D8B030D-6E8A-4147-A177-3AD203B41FA5}">
                      <a16:colId xmlns:a16="http://schemas.microsoft.com/office/drawing/2014/main" val="362521330"/>
                    </a:ext>
                  </a:extLst>
                </a:gridCol>
                <a:gridCol w="2617518">
                  <a:extLst>
                    <a:ext uri="{9D8B030D-6E8A-4147-A177-3AD203B41FA5}">
                      <a16:colId xmlns:a16="http://schemas.microsoft.com/office/drawing/2014/main" val="3109739198"/>
                    </a:ext>
                  </a:extLst>
                </a:gridCol>
              </a:tblGrid>
              <a:tr h="4887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Problem/Objective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Method/Module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Key Considerations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Limitations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1280766"/>
                  </a:ext>
                </a:extLst>
              </a:tr>
              <a:tr h="1281486">
                <a:tc>
                  <a:txBody>
                    <a:bodyPr/>
                    <a:lstStyle/>
                    <a:p>
                      <a:r>
                        <a:rPr lang="en-US" sz="1400" dirty="0"/>
                        <a:t>Survey on Unified Threat Management (UTM) Systems for Home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Home/SoHo networks need enterprise-level security, but UTMs are built mainly for enterprises.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Surveyed UTM approaches (firewall, IDS/IPS, antivirus, anti-bot) and deployment issues.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Constraints on cost, usability, and integration with threat intelligence (STIX/TAXII).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Purely survey-based, no prototype or deployment solution.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264266"/>
                  </a:ext>
                </a:extLst>
              </a:tr>
              <a:tr h="1082143">
                <a:tc>
                  <a:txBody>
                    <a:bodyPr/>
                    <a:lstStyle/>
                    <a:p>
                      <a:r>
                        <a:rPr lang="en-US" sz="1400" dirty="0"/>
                        <a:t>Comprehensive Study on STIX and TAXII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Threat intelligence sharing lacks standardization.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Analyzed STIX (Structured Threat Information Expression) and TAXII (Trusted Automated Exchange of Indicator Information).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Machine-readable intel sharing, interoperability, importance for adaptive firewalls/IDS.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Machine-readable intel sharing, interoperability, importance for adaptive firewalls/IDS.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938698"/>
                  </a:ext>
                </a:extLst>
              </a:tr>
              <a:tr h="1118392">
                <a:tc>
                  <a:txBody>
                    <a:bodyPr/>
                    <a:lstStyle/>
                    <a:p>
                      <a:r>
                        <a:rPr lang="en-US" sz="1400" dirty="0" err="1"/>
                        <a:t>IoT</a:t>
                      </a:r>
                      <a:r>
                        <a:rPr lang="en-US" sz="1400" dirty="0"/>
                        <a:t> Device Classification using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Classify IoT devices to detect anomalies or threats.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ML-based classification models with feature extraction from device behavior.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Accurate classification prevents misuse; requires good training and preprocessing.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 Relies on labeled datasets; models may drift with new devices or attack types.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0700214"/>
                  </a:ext>
                </a:extLst>
              </a:tr>
              <a:tr h="1281486">
                <a:tc>
                  <a:txBody>
                    <a:bodyPr/>
                    <a:lstStyle/>
                    <a:p>
                      <a:r>
                        <a:rPr lang="en-US" sz="1400" dirty="0"/>
                        <a:t>Automatic Device Classification using Arduino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Identify/classify </a:t>
                      </a:r>
                      <a:r>
                        <a:rPr lang="en-US" sz="1400" dirty="0" err="1"/>
                        <a:t>IoT</a:t>
                      </a:r>
                      <a:r>
                        <a:rPr lang="en-US" sz="1400" dirty="0"/>
                        <a:t> devices for stronger network security.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Device identification algorithms using Arduino hardware. Real-time classification based on communication patterns.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Efficient resource use, adaptability across device types.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Limited processing capacity, risk of misclassification in noisy networks.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71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750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2A311-2C3F-607F-84BF-8F49FB933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842593-26F2-8FF9-0841-6686826DE9D3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781EEBD-ACE1-1D8F-C1C1-66A350BF5D2B}"/>
              </a:ext>
            </a:extLst>
          </p:cNvPr>
          <p:cNvSpPr txBox="1"/>
          <p:nvPr/>
        </p:nvSpPr>
        <p:spPr>
          <a:xfrm>
            <a:off x="381000" y="23839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spc="10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METHODOLOGY – CORE MODULES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D3D7C5-7B6D-76AA-96FF-7CE2451DB76F}"/>
              </a:ext>
            </a:extLst>
          </p:cNvPr>
          <p:cNvSpPr txBox="1"/>
          <p:nvPr/>
        </p:nvSpPr>
        <p:spPr>
          <a:xfrm>
            <a:off x="942474" y="1441408"/>
            <a:ext cx="5153526" cy="4512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Flow Detection Engine ( NTOP 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Identify Traffic Patterns.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Detects anomalies.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Provides data for signature optimization.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b="1" dirty="0"/>
              <a:t>Intrusion Detection Engine ( Suricata 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Matches traffic to known attack patterns.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Can operate in IDS or IPS mode.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b="1" dirty="0"/>
              <a:t>Firewall ( Iptables + IoC feeds via STIX/TAXII 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Blocks malicious IPs dynamically.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Enhances anti-bot protection.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84896E-FB4E-76C2-2BDD-2835076ED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314" y="1441407"/>
            <a:ext cx="4752609" cy="474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7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F7838-6CA8-A1AE-2D93-DF627DD75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A4FA43-1713-3681-386A-4311DE977965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C4FBF38-9E5E-FB90-C02B-F988E387C716}"/>
              </a:ext>
            </a:extLst>
          </p:cNvPr>
          <p:cNvSpPr txBox="1"/>
          <p:nvPr/>
        </p:nvSpPr>
        <p:spPr>
          <a:xfrm>
            <a:off x="381000" y="23839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spc="10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METHODOLOGY – SYSTEM FLOW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F99F34-9CFC-A562-AC18-9BD13009D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045" y="1875842"/>
            <a:ext cx="6614245" cy="45561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E1C947-1791-BF36-66FB-EA2D60F26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37" y="2098530"/>
            <a:ext cx="1514475" cy="364807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7C2B5D-F673-17E7-4DD4-DD078125B9C6}"/>
              </a:ext>
            </a:extLst>
          </p:cNvPr>
          <p:cNvCxnSpPr/>
          <p:nvPr/>
        </p:nvCxnSpPr>
        <p:spPr>
          <a:xfrm>
            <a:off x="3429000" y="1340427"/>
            <a:ext cx="0" cy="51642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F445B96-9636-97FB-A1E1-AAC3B3CD625B}"/>
              </a:ext>
            </a:extLst>
          </p:cNvPr>
          <p:cNvSpPr txBox="1"/>
          <p:nvPr/>
        </p:nvSpPr>
        <p:spPr>
          <a:xfrm>
            <a:off x="743669" y="1353642"/>
            <a:ext cx="18412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High Level Flow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90E3E2-C48B-E8E3-BDF3-E3B3D288C0F8}"/>
              </a:ext>
            </a:extLst>
          </p:cNvPr>
          <p:cNvSpPr txBox="1"/>
          <p:nvPr/>
        </p:nvSpPr>
        <p:spPr>
          <a:xfrm>
            <a:off x="3756165" y="1353642"/>
            <a:ext cx="16450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Detailed Flow</a:t>
            </a:r>
          </a:p>
        </p:txBody>
      </p:sp>
    </p:spTree>
    <p:extLst>
      <p:ext uri="{BB962C8B-B14F-4D97-AF65-F5344CB8AC3E}">
        <p14:creationId xmlns:p14="http://schemas.microsoft.com/office/powerpoint/2010/main" val="482015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44A94-6123-D67F-F028-EEA2EEA63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F0BD0D-835A-5F2B-F3A7-0B8029609B41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2D57780-E92E-2DC6-6B67-73DF32D823AA}"/>
              </a:ext>
            </a:extLst>
          </p:cNvPr>
          <p:cNvSpPr txBox="1"/>
          <p:nvPr/>
        </p:nvSpPr>
        <p:spPr>
          <a:xfrm>
            <a:off x="381000" y="23839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RESOURCES</a:t>
            </a: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REQUIRED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88E04F-D696-3006-06CA-612697463F88}"/>
              </a:ext>
            </a:extLst>
          </p:cNvPr>
          <p:cNvSpPr txBox="1"/>
          <p:nvPr/>
        </p:nvSpPr>
        <p:spPr>
          <a:xfrm>
            <a:off x="862916" y="1204303"/>
            <a:ext cx="10466168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Hardware: </a:t>
            </a:r>
            <a:r>
              <a:rPr lang="en-US" dirty="0"/>
              <a:t>Raspberry Pi 3</a:t>
            </a:r>
            <a:endParaRPr lang="en-US" b="1" dirty="0"/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b="1" dirty="0"/>
              <a:t>OS :</a:t>
            </a:r>
            <a:r>
              <a:rPr lang="en-US" dirty="0"/>
              <a:t> Ubuntu 22.04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b="1" dirty="0"/>
              <a:t>Core software:</a:t>
            </a:r>
            <a:r>
              <a:rPr lang="en-US" dirty="0"/>
              <a:t> </a:t>
            </a:r>
            <a:r>
              <a:rPr lang="en-US" dirty="0" err="1"/>
              <a:t>Ntopng</a:t>
            </a:r>
            <a:r>
              <a:rPr lang="en-US" dirty="0"/>
              <a:t>, </a:t>
            </a:r>
            <a:r>
              <a:rPr lang="en-US" dirty="0" err="1"/>
              <a:t>Suricata</a:t>
            </a:r>
            <a:r>
              <a:rPr lang="en-US" dirty="0"/>
              <a:t>, </a:t>
            </a:r>
            <a:r>
              <a:rPr lang="en-US" dirty="0" err="1"/>
              <a:t>iptables</a:t>
            </a:r>
            <a:endParaRPr lang="en-US" dirty="0"/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b="1" dirty="0"/>
              <a:t>Threat Feeds: </a:t>
            </a:r>
            <a:r>
              <a:rPr lang="en-US" dirty="0"/>
              <a:t>STIX/TAXII (</a:t>
            </a:r>
            <a:r>
              <a:rPr lang="en-US" dirty="0" err="1"/>
              <a:t>Anomali</a:t>
            </a:r>
            <a:r>
              <a:rPr lang="en-US" dirty="0"/>
              <a:t>, OTX) for </a:t>
            </a:r>
            <a:r>
              <a:rPr lang="en-US" dirty="0" err="1"/>
              <a:t>IoCs</a:t>
            </a:r>
            <a:endParaRPr lang="en-US" b="1" dirty="0"/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b="1" dirty="0"/>
              <a:t>Dataset: </a:t>
            </a:r>
            <a:r>
              <a:rPr lang="en-US" dirty="0"/>
              <a:t>CICIDS2017 used for testing and validation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b="1" dirty="0"/>
              <a:t>Testing Environment:</a:t>
            </a:r>
            <a:r>
              <a:rPr lang="en-US" dirty="0"/>
              <a:t> Home network with multiple devices (PCs, </a:t>
            </a:r>
            <a:r>
              <a:rPr lang="en-US" dirty="0" err="1"/>
              <a:t>IoT</a:t>
            </a:r>
            <a:r>
              <a:rPr lang="en-US" dirty="0"/>
              <a:t>, mobile)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75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2A311-2C3F-607F-84BF-8F49FB933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842593-26F2-8FF9-0841-6686826DE9D3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781EEBD-ACE1-1D8F-C1C1-66A350BF5D2B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CHALLENGES &amp; RISK FACTORS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759308" y="2863110"/>
            <a:ext cx="6377471" cy="464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643466" y="1408865"/>
            <a:ext cx="8871531" cy="3373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Hardware Limits 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Limited processing capacity can reduce detection speed and accuracy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Scalability 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Higher traffic and devices strain system performance and resources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Integration 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Multiple feeds and tools make management and correlation difficult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Detection Errors 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Incorrect alerts can either overwhelm or miss real threats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Updates 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Continuous tuning needed to stay ahead of evolving threats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Misconfiguration 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Human errors or outdated settings weaken security posture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Single Point Failure 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Centralized design can lead to complete outage if compromised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Latency 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Security checks may slow down or disrupt normal network performance</a:t>
            </a:r>
          </a:p>
        </p:txBody>
      </p:sp>
    </p:spTree>
    <p:extLst>
      <p:ext uri="{BB962C8B-B14F-4D97-AF65-F5344CB8AC3E}">
        <p14:creationId xmlns:p14="http://schemas.microsoft.com/office/powerpoint/2010/main" val="2027487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2A311-2C3F-607F-84BF-8F49FB933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842593-26F2-8FF9-0841-6686826DE9D3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781EEBD-ACE1-1D8F-C1C1-66A350BF5D2B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OUTCOMES / DELIVERABLES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D3D7C5-7B6D-76AA-96FF-7CE2451DB76F}"/>
              </a:ext>
            </a:extLst>
          </p:cNvPr>
          <p:cNvSpPr txBox="1"/>
          <p:nvPr/>
        </p:nvSpPr>
        <p:spPr>
          <a:xfrm>
            <a:off x="843280" y="1321535"/>
            <a:ext cx="10967720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System: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Affordable SUTMS running on Raspberry Pi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Scripts: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Auto-tuning of IDS rules and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IoC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ingestion tools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Configuration: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Pre-set firewall and IDS for easy use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Accuracy: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Around 99% detection with optimized setup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Efficiency: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55% less memory usage, stable CPU load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Benefit: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Strong protection for home and SOHO networks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75354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5850758-1A60-030F-E54A-4F5B8286DFEA}"/>
              </a:ext>
            </a:extLst>
          </p:cNvPr>
          <p:cNvSpPr txBox="1"/>
          <p:nvPr/>
        </p:nvSpPr>
        <p:spPr>
          <a:xfrm>
            <a:off x="0" y="2418080"/>
            <a:ext cx="1219200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7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 YOU</a:t>
            </a:r>
            <a:endParaRPr lang="en-US" sz="72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84273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1040</Words>
  <Application>Microsoft Office PowerPoint</Application>
  <PresentationFormat>Widescreen</PresentationFormat>
  <Paragraphs>124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Aswin Senthilkumar</dc:creator>
  <cp:lastModifiedBy>Aswin Senthilkumar</cp:lastModifiedBy>
  <cp:revision>15</cp:revision>
  <dcterms:created xsi:type="dcterms:W3CDTF">2025-09-15T15:52:02Z</dcterms:created>
  <dcterms:modified xsi:type="dcterms:W3CDTF">2025-09-23T08:50:55Z</dcterms:modified>
</cp:coreProperties>
</file>