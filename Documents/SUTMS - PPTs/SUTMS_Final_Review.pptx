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77" r:id="rId3"/>
    <p:sldId id="278" r:id="rId4"/>
    <p:sldId id="279" r:id="rId5"/>
    <p:sldId id="280" r:id="rId6"/>
    <p:sldId id="276" r:id="rId7"/>
    <p:sldId id="265" r:id="rId8"/>
    <p:sldId id="281" r:id="rId9"/>
    <p:sldId id="269" r:id="rId10"/>
    <p:sldId id="270" r:id="rId11"/>
    <p:sldId id="273" r:id="rId12"/>
    <p:sldId id="275" r:id="rId13"/>
    <p:sldId id="283" r:id="rId14"/>
    <p:sldId id="274" r:id="rId15"/>
    <p:sldId id="263" r:id="rId16"/>
    <p:sldId id="259" r:id="rId17"/>
    <p:sldId id="284" r:id="rId18"/>
    <p:sldId id="267" r:id="rId19"/>
    <p:sldId id="282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582" autoAdjust="0"/>
    <p:restoredTop sz="95020" autoAdjust="0"/>
  </p:normalViewPr>
  <p:slideViewPr>
    <p:cSldViewPr snapToGrid="0">
      <p:cViewPr varScale="1">
        <p:scale>
          <a:sx n="108" d="100"/>
          <a:sy n="108" d="100"/>
        </p:scale>
        <p:origin x="222" y="9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013EA-8A6E-487B-9060-0DADB87D5D8E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96FC0-856D-418F-82F9-A8A48D7B45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898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013EA-8A6E-487B-9060-0DADB87D5D8E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96FC0-856D-418F-82F9-A8A48D7B45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86454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013EA-8A6E-487B-9060-0DADB87D5D8E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96FC0-856D-418F-82F9-A8A48D7B45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06732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013EA-8A6E-487B-9060-0DADB87D5D8E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96FC0-856D-418F-82F9-A8A48D7B45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44623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013EA-8A6E-487B-9060-0DADB87D5D8E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96FC0-856D-418F-82F9-A8A48D7B45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6437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013EA-8A6E-487B-9060-0DADB87D5D8E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96FC0-856D-418F-82F9-A8A48D7B45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92681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013EA-8A6E-487B-9060-0DADB87D5D8E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96FC0-856D-418F-82F9-A8A48D7B45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3443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013EA-8A6E-487B-9060-0DADB87D5D8E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96FC0-856D-418F-82F9-A8A48D7B45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03041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013EA-8A6E-487B-9060-0DADB87D5D8E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96FC0-856D-418F-82F9-A8A48D7B45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10594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013EA-8A6E-487B-9060-0DADB87D5D8E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96FC0-856D-418F-82F9-A8A48D7B45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2033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013EA-8A6E-487B-9060-0DADB87D5D8E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96FC0-856D-418F-82F9-A8A48D7B45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1298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C013EA-8A6E-487B-9060-0DADB87D5D8E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B96FC0-856D-418F-82F9-A8A48D7B45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57799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5850758-1A60-030F-E54A-4F5B8286DFEA}"/>
              </a:ext>
            </a:extLst>
          </p:cNvPr>
          <p:cNvSpPr txBox="1"/>
          <p:nvPr/>
        </p:nvSpPr>
        <p:spPr>
          <a:xfrm>
            <a:off x="2430380" y="1061764"/>
            <a:ext cx="733124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DESIGNING A UNIFIED THREAT MANAGEMENT SYSTEM FOR HOME NETWORKS</a:t>
            </a:r>
            <a:endParaRPr lang="en-US" sz="3600" dirty="0">
              <a:solidFill>
                <a:schemeClr val="tx1">
                  <a:lumMod val="75000"/>
                  <a:lumOff val="25000"/>
                </a:schemeClr>
              </a:solidFill>
              <a:effectLst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70C539A3-42FB-5C23-4FA9-ED348F163BCD}"/>
              </a:ext>
            </a:extLst>
          </p:cNvPr>
          <p:cNvCxnSpPr>
            <a:cxnSpLocks/>
          </p:cNvCxnSpPr>
          <p:nvPr/>
        </p:nvCxnSpPr>
        <p:spPr>
          <a:xfrm>
            <a:off x="2157664" y="1266302"/>
            <a:ext cx="0" cy="1347537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C987D846-1C60-96E1-CCE8-449542619D8F}"/>
              </a:ext>
            </a:extLst>
          </p:cNvPr>
          <p:cNvSpPr txBox="1"/>
          <p:nvPr/>
        </p:nvSpPr>
        <p:spPr>
          <a:xfrm>
            <a:off x="6322192" y="3212990"/>
            <a:ext cx="5141238" cy="8156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Guided by</a:t>
            </a:r>
          </a:p>
          <a:p>
            <a:pPr>
              <a:spcBef>
                <a:spcPts val="600"/>
              </a:spcBef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Dr. M. Blessy Queen Mary M.E, PH.D.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effectLst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6D8102-B56B-008B-1EBD-F4F0533D8D98}"/>
              </a:ext>
            </a:extLst>
          </p:cNvPr>
          <p:cNvSpPr txBox="1"/>
          <p:nvPr/>
        </p:nvSpPr>
        <p:spPr>
          <a:xfrm>
            <a:off x="6322192" y="4136753"/>
            <a:ext cx="5141238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Team Members</a:t>
            </a:r>
          </a:p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Aswin S 		- 	71772218102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effectLst/>
            </a:endParaRPr>
          </a:p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Janardhan M 	- 	71772218116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effectLst/>
            </a:endParaRPr>
          </a:p>
          <a:p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Praghadeesh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S 	- 	71772218138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effectLst/>
            </a:endParaRPr>
          </a:p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Iyappan K 	- 	71772218L04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5799395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035D46-9E0F-A692-6422-EF75F20611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5606253-4E56-45B8-E4FD-57BB8B0C199C}"/>
              </a:ext>
            </a:extLst>
          </p:cNvPr>
          <p:cNvCxnSpPr>
            <a:cxnSpLocks/>
          </p:cNvCxnSpPr>
          <p:nvPr/>
        </p:nvCxnSpPr>
        <p:spPr>
          <a:xfrm>
            <a:off x="0" y="1044514"/>
            <a:ext cx="12192000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CD039BEA-036C-9EBC-ED71-1166651D7859}"/>
              </a:ext>
            </a:extLst>
          </p:cNvPr>
          <p:cNvSpPr txBox="1"/>
          <p:nvPr/>
        </p:nvSpPr>
        <p:spPr>
          <a:xfrm>
            <a:off x="381000" y="203225"/>
            <a:ext cx="11430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tx1">
                    <a:lumMod val="75000"/>
                    <a:lumOff val="25000"/>
                  </a:schemeClr>
                </a:solidFill>
                <a:cs typeface="Times New Roman" panose="02020603050405020304" pitchFamily="18" charset="0"/>
              </a:rPr>
              <a:t>PROBLEM IDENTIFICATION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349C299-0E78-170B-3719-4FE27CC84910}"/>
              </a:ext>
            </a:extLst>
          </p:cNvPr>
          <p:cNvSpPr txBox="1"/>
          <p:nvPr/>
        </p:nvSpPr>
        <p:spPr>
          <a:xfrm>
            <a:off x="612140" y="1163636"/>
            <a:ext cx="10967720" cy="22653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Existing System: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Home Routers focus on Connectivity and not Security.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Systems use basic firewalls/antivirus, limited to Layer 3/4 filtering.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Corporate UTM Solutions need high resources.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UTMs depend on paid signature updates, lack of dynamic IoC feeds.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9D2A454-9264-BEEC-A8B8-36689C4D1EBF}"/>
              </a:ext>
            </a:extLst>
          </p:cNvPr>
          <p:cNvSpPr txBox="1"/>
          <p:nvPr/>
        </p:nvSpPr>
        <p:spPr>
          <a:xfrm>
            <a:off x="612140" y="3548123"/>
            <a:ext cx="11196320" cy="26808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Issues in the System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The Home Network is the New Perimeter.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Explosive Growth with inadequate Defense.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 dangerous vacuum in security, with users lacking technical expertise.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Security tools are isolated and not integrated.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46383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F44011-583B-B792-69A3-BFD4E1DDEB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6754938-A83C-5534-A732-021ACC0040B4}"/>
              </a:ext>
            </a:extLst>
          </p:cNvPr>
          <p:cNvCxnSpPr>
            <a:cxnSpLocks/>
          </p:cNvCxnSpPr>
          <p:nvPr/>
        </p:nvCxnSpPr>
        <p:spPr>
          <a:xfrm>
            <a:off x="0" y="1044514"/>
            <a:ext cx="12192000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082942F7-039F-1D63-4F59-86C486B2C780}"/>
              </a:ext>
            </a:extLst>
          </p:cNvPr>
          <p:cNvSpPr txBox="1"/>
          <p:nvPr/>
        </p:nvSpPr>
        <p:spPr>
          <a:xfrm>
            <a:off x="381000" y="203225"/>
            <a:ext cx="11430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tx1">
                    <a:lumMod val="75000"/>
                    <a:lumOff val="25000"/>
                  </a:schemeClr>
                </a:solidFill>
                <a:cs typeface="Times New Roman" panose="02020603050405020304" pitchFamily="18" charset="0"/>
              </a:rPr>
              <a:t>PROPOSED SYSTEM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14E210C-F191-A5A7-2208-FB86F5A76113}"/>
              </a:ext>
            </a:extLst>
          </p:cNvPr>
          <p:cNvSpPr txBox="1"/>
          <p:nvPr/>
        </p:nvSpPr>
        <p:spPr>
          <a:xfrm>
            <a:off x="612140" y="2112489"/>
            <a:ext cx="10967720" cy="23423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OBJECTIVES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effectLst/>
            </a:endParaRP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Provide </a:t>
            </a: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corporate-grade security 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to personal/home devices like laptops, mobiles, and IoT gadgets.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Ensure multi-layered protection – </a:t>
            </a: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Flow detection, Intrusion detection, Firewall, Anti-bot protection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effectLst/>
            </a:endParaRP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Develop a </a:t>
            </a: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lightweight, cost-effective, and easy-to-deploy 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solution using Raspberry Pi.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effectLst/>
            </a:endParaRP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Reduce CPU/memory usage while maintaining </a:t>
            </a: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high detection accuracy 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(≈99%).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effectLst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32981D-7276-2A62-6F60-24E313860DC3}"/>
              </a:ext>
            </a:extLst>
          </p:cNvPr>
          <p:cNvSpPr txBox="1"/>
          <p:nvPr/>
        </p:nvSpPr>
        <p:spPr>
          <a:xfrm>
            <a:off x="612140" y="1325356"/>
            <a:ext cx="10967720" cy="506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0" i="0" dirty="0">
                <a:effectLst/>
              </a:rPr>
              <a:t>Smart </a:t>
            </a:r>
            <a:r>
              <a:rPr lang="en-US" sz="2000" dirty="0"/>
              <a:t>Unified Threat Management </a:t>
            </a:r>
            <a:r>
              <a:rPr lang="en-US" sz="2000" b="0" i="0" dirty="0">
                <a:effectLst/>
              </a:rPr>
              <a:t>System (SUTMS) on an Edge </a:t>
            </a:r>
            <a:r>
              <a:rPr lang="en-US" sz="2000" dirty="0"/>
              <a:t>D</a:t>
            </a:r>
            <a:r>
              <a:rPr lang="en-US" sz="2000" b="0" i="0" dirty="0">
                <a:effectLst/>
              </a:rPr>
              <a:t>evice ( </a:t>
            </a:r>
            <a:r>
              <a:rPr lang="en-US" sz="2000" dirty="0" err="1"/>
              <a:t>R</a:t>
            </a:r>
            <a:r>
              <a:rPr lang="en-US" sz="2000" b="0" i="0" dirty="0" err="1">
                <a:effectLst/>
              </a:rPr>
              <a:t>aspberryPi</a:t>
            </a:r>
            <a:r>
              <a:rPr lang="en-US" sz="2000" b="0" i="0" dirty="0">
                <a:effectLst/>
              </a:rPr>
              <a:t> ).</a:t>
            </a:r>
            <a:endParaRPr lang="en-US" sz="20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182597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2C570E-E205-5B2D-E658-F7271313C9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C3AB863-1338-9AF3-FD12-040F90FF6C6B}"/>
              </a:ext>
            </a:extLst>
          </p:cNvPr>
          <p:cNvCxnSpPr>
            <a:cxnSpLocks/>
          </p:cNvCxnSpPr>
          <p:nvPr/>
        </p:nvCxnSpPr>
        <p:spPr>
          <a:xfrm>
            <a:off x="0" y="942914"/>
            <a:ext cx="12192000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0193C2D5-937A-055B-3F7F-E2E4202A3740}"/>
              </a:ext>
            </a:extLst>
          </p:cNvPr>
          <p:cNvSpPr txBox="1"/>
          <p:nvPr/>
        </p:nvSpPr>
        <p:spPr>
          <a:xfrm>
            <a:off x="381000" y="203225"/>
            <a:ext cx="11430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tx1">
                    <a:lumMod val="75000"/>
                    <a:lumOff val="25000"/>
                  </a:schemeClr>
                </a:solidFill>
                <a:cs typeface="Times New Roman" panose="02020603050405020304" pitchFamily="18" charset="0"/>
              </a:rPr>
              <a:t>LITERATURE SURVEY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5AD958C-052D-88B7-1A82-F9A33A302584}"/>
              </a:ext>
            </a:extLst>
          </p:cNvPr>
          <p:cNvGraphicFramePr>
            <a:graphicFrameLocks noGrp="1"/>
          </p:cNvGraphicFramePr>
          <p:nvPr/>
        </p:nvGraphicFramePr>
        <p:xfrm>
          <a:off x="297960" y="1106952"/>
          <a:ext cx="11596080" cy="5415301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971687">
                  <a:extLst>
                    <a:ext uri="{9D8B030D-6E8A-4147-A177-3AD203B41FA5}">
                      <a16:colId xmlns:a16="http://schemas.microsoft.com/office/drawing/2014/main" val="593865603"/>
                    </a:ext>
                  </a:extLst>
                </a:gridCol>
                <a:gridCol w="2557669">
                  <a:extLst>
                    <a:ext uri="{9D8B030D-6E8A-4147-A177-3AD203B41FA5}">
                      <a16:colId xmlns:a16="http://schemas.microsoft.com/office/drawing/2014/main" val="778775473"/>
                    </a:ext>
                  </a:extLst>
                </a:gridCol>
                <a:gridCol w="2186609">
                  <a:extLst>
                    <a:ext uri="{9D8B030D-6E8A-4147-A177-3AD203B41FA5}">
                      <a16:colId xmlns:a16="http://schemas.microsoft.com/office/drawing/2014/main" val="2495320688"/>
                    </a:ext>
                  </a:extLst>
                </a:gridCol>
                <a:gridCol w="2332383">
                  <a:extLst>
                    <a:ext uri="{9D8B030D-6E8A-4147-A177-3AD203B41FA5}">
                      <a16:colId xmlns:a16="http://schemas.microsoft.com/office/drawing/2014/main" val="362521330"/>
                    </a:ext>
                  </a:extLst>
                </a:gridCol>
                <a:gridCol w="2547732">
                  <a:extLst>
                    <a:ext uri="{9D8B030D-6E8A-4147-A177-3AD203B41FA5}">
                      <a16:colId xmlns:a16="http://schemas.microsoft.com/office/drawing/2014/main" val="3109739198"/>
                    </a:ext>
                  </a:extLst>
                </a:gridCol>
              </a:tblGrid>
              <a:tr h="4887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Paper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Problem/Objective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Method/Module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Key Considerations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Limitations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91280766"/>
                  </a:ext>
                </a:extLst>
              </a:tr>
              <a:tr h="1281486"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Intrusion Detection for </a:t>
                      </a:r>
                      <a:r>
                        <a:rPr lang="en-US" sz="1400" dirty="0" err="1"/>
                        <a:t>IoT</a:t>
                      </a:r>
                      <a:r>
                        <a:rPr lang="en-US" sz="1400" dirty="0"/>
                        <a:t>-enabled Smart Homes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Smart homes face frequent cyber threats due to weak device security.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ML-based intrusion detection focusing on anomaly detection.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Must be lightweight, accurate, and adaptive.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Simulation-based, dataset-dependent, may not generalize to real </a:t>
                      </a:r>
                      <a:r>
                        <a:rPr lang="en-US" sz="1400" dirty="0" err="1"/>
                        <a:t>IoT</a:t>
                      </a:r>
                      <a:r>
                        <a:rPr lang="en-US" sz="1400" dirty="0"/>
                        <a:t> attacks.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43264266"/>
                  </a:ext>
                </a:extLst>
              </a:tr>
              <a:tr h="1082143"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Phishing/Malicious URL Detection with Raspberry Pi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Home networks often fail to detect phishing URLs; need cost-effective solution.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NETBITS on Raspberry Pi using URL feature analysis &amp; classification.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Low-cost hardware, real-time monitoring, feasible for small networks.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Focuses only on URL-based threats; Raspberry Pi has limited processing power.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36938698"/>
                  </a:ext>
                </a:extLst>
              </a:tr>
              <a:tr h="1281486"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Traffic Trace Artifacts from Port Mirroring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Port mirroring (SPAN) used for monitoring may distort traffic traces.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Studied artifacts like packet loss &amp; timing distortion in switches/routers.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IDS accuracy depends on fidelity of captured traces.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Only studies port mirroring, not other capture methods; based on older hardware.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90700214"/>
                  </a:ext>
                </a:extLst>
              </a:tr>
              <a:tr h="1281486"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Performance of Open-source IDS in High-speed Networks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IDS like Snort, </a:t>
                      </a:r>
                      <a:r>
                        <a:rPr lang="en-US" sz="1400" dirty="0" err="1"/>
                        <a:t>Suricata</a:t>
                      </a:r>
                      <a:r>
                        <a:rPr lang="en-US" sz="1400" dirty="0"/>
                        <a:t>, Bro face bottlenecks in </a:t>
                      </a:r>
                      <a:r>
                        <a:rPr lang="en-US" sz="1400" dirty="0" err="1"/>
                        <a:t>Gbps</a:t>
                      </a:r>
                      <a:r>
                        <a:rPr lang="en-US" sz="1400" dirty="0"/>
                        <a:t> traffic environments.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Benchmarked IDS performance (throughput, packet loss, detection accuracy).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Requires multi-threading, optimized rules, hardware acceleration.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Hardware-dependent results; focus on performance, not detection improvements.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52717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247226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84B326-246C-9D69-B4BA-F0084321DC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40A2BB7-D46F-146A-78E2-F80AC805A4CC}"/>
              </a:ext>
            </a:extLst>
          </p:cNvPr>
          <p:cNvCxnSpPr>
            <a:cxnSpLocks/>
          </p:cNvCxnSpPr>
          <p:nvPr/>
        </p:nvCxnSpPr>
        <p:spPr>
          <a:xfrm>
            <a:off x="0" y="942914"/>
            <a:ext cx="12192000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5091EFDA-88A3-E4BE-D905-9596982EEA9E}"/>
              </a:ext>
            </a:extLst>
          </p:cNvPr>
          <p:cNvSpPr txBox="1"/>
          <p:nvPr/>
        </p:nvSpPr>
        <p:spPr>
          <a:xfrm>
            <a:off x="381000" y="203225"/>
            <a:ext cx="11430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tx1">
                    <a:lumMod val="75000"/>
                    <a:lumOff val="25000"/>
                  </a:schemeClr>
                </a:solidFill>
                <a:cs typeface="Times New Roman" panose="02020603050405020304" pitchFamily="18" charset="0"/>
              </a:rPr>
              <a:t>LITERATURE SURVEY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C9235A2-B5B5-041B-6C5C-F5F376C9D1D2}"/>
              </a:ext>
            </a:extLst>
          </p:cNvPr>
          <p:cNvGraphicFramePr>
            <a:graphicFrameLocks noGrp="1"/>
          </p:cNvGraphicFramePr>
          <p:nvPr/>
        </p:nvGraphicFramePr>
        <p:xfrm>
          <a:off x="297960" y="1106952"/>
          <a:ext cx="11596080" cy="5328304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971687">
                  <a:extLst>
                    <a:ext uri="{9D8B030D-6E8A-4147-A177-3AD203B41FA5}">
                      <a16:colId xmlns:a16="http://schemas.microsoft.com/office/drawing/2014/main" val="593865603"/>
                    </a:ext>
                  </a:extLst>
                </a:gridCol>
                <a:gridCol w="2421623">
                  <a:extLst>
                    <a:ext uri="{9D8B030D-6E8A-4147-A177-3AD203B41FA5}">
                      <a16:colId xmlns:a16="http://schemas.microsoft.com/office/drawing/2014/main" val="778775473"/>
                    </a:ext>
                  </a:extLst>
                </a:gridCol>
                <a:gridCol w="2531165">
                  <a:extLst>
                    <a:ext uri="{9D8B030D-6E8A-4147-A177-3AD203B41FA5}">
                      <a16:colId xmlns:a16="http://schemas.microsoft.com/office/drawing/2014/main" val="2495320688"/>
                    </a:ext>
                  </a:extLst>
                </a:gridCol>
                <a:gridCol w="2054087">
                  <a:extLst>
                    <a:ext uri="{9D8B030D-6E8A-4147-A177-3AD203B41FA5}">
                      <a16:colId xmlns:a16="http://schemas.microsoft.com/office/drawing/2014/main" val="362521330"/>
                    </a:ext>
                  </a:extLst>
                </a:gridCol>
                <a:gridCol w="2617518">
                  <a:extLst>
                    <a:ext uri="{9D8B030D-6E8A-4147-A177-3AD203B41FA5}">
                      <a16:colId xmlns:a16="http://schemas.microsoft.com/office/drawing/2014/main" val="3109739198"/>
                    </a:ext>
                  </a:extLst>
                </a:gridCol>
              </a:tblGrid>
              <a:tr h="4887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Paper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Problem/Objective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Method/Module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Key Considerations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Limitations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91280766"/>
                  </a:ext>
                </a:extLst>
              </a:tr>
              <a:tr h="1281486">
                <a:tc>
                  <a:txBody>
                    <a:bodyPr/>
                    <a:lstStyle/>
                    <a:p>
                      <a:r>
                        <a:rPr lang="en-US" sz="1400" dirty="0"/>
                        <a:t>Survey on Unified Threat Management (UTM) Systems for Home Networks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Home/SoHo networks need enterprise-level security, but UTMs are built mainly for enterprises.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Surveyed UTM approaches (firewall, IDS/IPS, antivirus, anti-bot) and deployment issues.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Constraints on cost, usability, and integration with threat intelligence (STIX/TAXII).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Purely survey-based, no prototype or deployment solution.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43264266"/>
                  </a:ext>
                </a:extLst>
              </a:tr>
              <a:tr h="1082143">
                <a:tc>
                  <a:txBody>
                    <a:bodyPr/>
                    <a:lstStyle/>
                    <a:p>
                      <a:r>
                        <a:rPr lang="en-US" sz="1400" dirty="0"/>
                        <a:t>Comprehensive Study on STIX and TAXII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Threat intelligence sharing lacks standardization.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Analyzed STIX (Structured Threat Information Expression) and TAXII (Trusted Automated Exchange of Indicator Information).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Machine-readable intel sharing, interoperability, importance for adaptive firewalls/IDS.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Machine-readable intel sharing, interoperability, importance for adaptive firewalls/IDS.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36938698"/>
                  </a:ext>
                </a:extLst>
              </a:tr>
              <a:tr h="1118392">
                <a:tc>
                  <a:txBody>
                    <a:bodyPr/>
                    <a:lstStyle/>
                    <a:p>
                      <a:r>
                        <a:rPr lang="en-US" sz="1400" dirty="0" err="1"/>
                        <a:t>IoT</a:t>
                      </a:r>
                      <a:r>
                        <a:rPr lang="en-US" sz="1400" dirty="0"/>
                        <a:t> Device Classification using Machine Learning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Classify IoT devices to detect anomalies or threats.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ML-based classification models with feature extraction from device behavior.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Accurate classification prevents misuse; requires good training and preprocessing.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 Relies on labeled datasets; models may drift with new devices or attack types.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90700214"/>
                  </a:ext>
                </a:extLst>
              </a:tr>
              <a:tr h="1281486">
                <a:tc>
                  <a:txBody>
                    <a:bodyPr/>
                    <a:lstStyle/>
                    <a:p>
                      <a:r>
                        <a:rPr lang="en-US" sz="1400" dirty="0"/>
                        <a:t>Automatic Device Classification using Arduino Platform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Identify/classify </a:t>
                      </a:r>
                      <a:r>
                        <a:rPr lang="en-US" sz="1400" dirty="0" err="1"/>
                        <a:t>IoT</a:t>
                      </a:r>
                      <a:r>
                        <a:rPr lang="en-US" sz="1400" dirty="0"/>
                        <a:t> devices for stronger network security.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Device identification algorithms using Arduino hardware. Real-time classification based on communication patterns.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Efficient resource use, adaptability across device types.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Limited processing capacity, risk of misclassification in noisy networks.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52717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797500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86102D-602E-09CA-B816-58DAEF101D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ED6B7985-8C9B-B49B-C706-ECD2563CF58B}"/>
              </a:ext>
            </a:extLst>
          </p:cNvPr>
          <p:cNvCxnSpPr>
            <a:cxnSpLocks/>
          </p:cNvCxnSpPr>
          <p:nvPr/>
        </p:nvCxnSpPr>
        <p:spPr>
          <a:xfrm>
            <a:off x="0" y="1044514"/>
            <a:ext cx="12192000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5D0726B3-98DF-6E76-268C-4B96B9184DF8}"/>
              </a:ext>
            </a:extLst>
          </p:cNvPr>
          <p:cNvSpPr txBox="1"/>
          <p:nvPr/>
        </p:nvSpPr>
        <p:spPr>
          <a:xfrm>
            <a:off x="381000" y="203225"/>
            <a:ext cx="11430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tx1">
                    <a:lumMod val="75000"/>
                    <a:lumOff val="25000"/>
                  </a:schemeClr>
                </a:solidFill>
                <a:cs typeface="Times New Roman" panose="02020603050405020304" pitchFamily="18" charset="0"/>
              </a:rPr>
              <a:t>SYSTEM ARCHITECTURE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66646A3-1FFF-14AB-239E-8C79F7081A34}"/>
              </a:ext>
            </a:extLst>
          </p:cNvPr>
          <p:cNvSpPr txBox="1"/>
          <p:nvPr/>
        </p:nvSpPr>
        <p:spPr>
          <a:xfrm>
            <a:off x="701964" y="1269953"/>
            <a:ext cx="34533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DEPLOYMENT STRATEGY 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4C7B3EF-8544-40B8-F0E8-1699DE46CD9B}"/>
              </a:ext>
            </a:extLst>
          </p:cNvPr>
          <p:cNvSpPr txBox="1"/>
          <p:nvPr/>
        </p:nvSpPr>
        <p:spPr>
          <a:xfrm>
            <a:off x="1288431" y="1736953"/>
            <a:ext cx="9314471" cy="464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Inline with Existing  Router</a:t>
            </a:r>
            <a:r>
              <a:rPr lang="en-US" dirty="0"/>
              <a:t> — Lives between internal network and external network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81A582F-7AE7-FF40-A009-E87D448D35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8431" y="2641552"/>
            <a:ext cx="9615138" cy="3385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76242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B2A311-2C3F-607F-84BF-8F49FB933A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C842593-26F2-8FF9-0841-6686826DE9D3}"/>
              </a:ext>
            </a:extLst>
          </p:cNvPr>
          <p:cNvCxnSpPr>
            <a:cxnSpLocks/>
          </p:cNvCxnSpPr>
          <p:nvPr/>
        </p:nvCxnSpPr>
        <p:spPr>
          <a:xfrm>
            <a:off x="0" y="1044514"/>
            <a:ext cx="12192000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F781EEBD-ACE1-1D8F-C1C1-66A350BF5D2B}"/>
              </a:ext>
            </a:extLst>
          </p:cNvPr>
          <p:cNvSpPr txBox="1"/>
          <p:nvPr/>
        </p:nvSpPr>
        <p:spPr>
          <a:xfrm>
            <a:off x="381000" y="238395"/>
            <a:ext cx="11430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spc="105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SUTMS – CORE MODULES</a:t>
            </a:r>
            <a:endParaRPr lang="en-US" sz="3600" dirty="0">
              <a:solidFill>
                <a:schemeClr val="tx1">
                  <a:lumMod val="75000"/>
                  <a:lumOff val="25000"/>
                </a:schemeClr>
              </a:solidFill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5D3D7C5-7B6D-76AA-96FF-7CE2451DB76F}"/>
              </a:ext>
            </a:extLst>
          </p:cNvPr>
          <p:cNvSpPr txBox="1"/>
          <p:nvPr/>
        </p:nvSpPr>
        <p:spPr>
          <a:xfrm>
            <a:off x="942474" y="1441408"/>
            <a:ext cx="5153526" cy="45121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Flow Detection Engine ( NTOP )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Identify Traffic Patterns.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Detects anomalies.</a:t>
            </a:r>
          </a:p>
          <a:p>
            <a:pPr marL="342900" indent="-342900">
              <a:lnSpc>
                <a:spcPct val="150000"/>
              </a:lnSpc>
              <a:spcBef>
                <a:spcPts val="1200"/>
              </a:spcBef>
              <a:buFont typeface="+mj-lt"/>
              <a:buAutoNum type="arabicPeriod"/>
            </a:pPr>
            <a:r>
              <a:rPr lang="en-US" b="1" dirty="0"/>
              <a:t>Intrusion Detection Engine ( Suricata )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Matches traffic to known attack patterns.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Can operate in IDS or IPS mode.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Aho-</a:t>
            </a:r>
            <a:r>
              <a:rPr lang="en-US" dirty="0" err="1"/>
              <a:t>Corasick</a:t>
            </a:r>
            <a:r>
              <a:rPr lang="en-US" dirty="0"/>
              <a:t> Pattern Matching Algorithm.</a:t>
            </a:r>
          </a:p>
          <a:p>
            <a:pPr marL="342900" indent="-342900">
              <a:lnSpc>
                <a:spcPct val="150000"/>
              </a:lnSpc>
              <a:spcBef>
                <a:spcPts val="1200"/>
              </a:spcBef>
              <a:buFont typeface="+mj-lt"/>
              <a:buAutoNum type="arabicPeriod"/>
            </a:pPr>
            <a:r>
              <a:rPr lang="en-US" b="1" dirty="0"/>
              <a:t>Firewall ( Iptables + IoC feeds via STIX/TAXII )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Blocks malicious IPs dynamically.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Enhances anti-bot protection.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184896E-FB4E-76C2-2BDD-2835076ED5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4314" y="1441407"/>
            <a:ext cx="4752609" cy="4740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9572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CD5676-9DC1-6D73-0185-19252FD5A8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3BB299ED-4604-4B7D-14D2-632FDF008528}"/>
              </a:ext>
            </a:extLst>
          </p:cNvPr>
          <p:cNvCxnSpPr>
            <a:cxnSpLocks/>
          </p:cNvCxnSpPr>
          <p:nvPr/>
        </p:nvCxnSpPr>
        <p:spPr>
          <a:xfrm>
            <a:off x="0" y="1044514"/>
            <a:ext cx="12192000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3004C21C-6133-9EAD-1570-00A6DE2B0EB0}"/>
              </a:ext>
            </a:extLst>
          </p:cNvPr>
          <p:cNvSpPr txBox="1"/>
          <p:nvPr/>
        </p:nvSpPr>
        <p:spPr>
          <a:xfrm>
            <a:off x="381000" y="203225"/>
            <a:ext cx="11430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tx1">
                    <a:lumMod val="75000"/>
                    <a:lumOff val="25000"/>
                  </a:schemeClr>
                </a:solidFill>
                <a:cs typeface="Times New Roman" panose="02020603050405020304" pitchFamily="18" charset="0"/>
              </a:rPr>
              <a:t>INNOVATION &amp; TECHNOLOGIES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E0C945F-ABEC-7352-00CC-F1BFF30E7B56}"/>
              </a:ext>
            </a:extLst>
          </p:cNvPr>
          <p:cNvSpPr txBox="1"/>
          <p:nvPr/>
        </p:nvSpPr>
        <p:spPr>
          <a:xfrm>
            <a:off x="612140" y="1163636"/>
            <a:ext cx="10967720" cy="22653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Integration of NTOP and Suricata: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IN" dirty="0" err="1"/>
              <a:t>NTOPng</a:t>
            </a:r>
            <a:r>
              <a:rPr lang="en-IN" dirty="0"/>
              <a:t> collects flow data from all connected devices.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IN" dirty="0"/>
              <a:t>Flow details are shared with Suricata for focused packet inspection.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IN" dirty="0"/>
              <a:t>Suricata </a:t>
            </a:r>
            <a:r>
              <a:rPr lang="en-IN" dirty="0" err="1"/>
              <a:t>analyzes</a:t>
            </a:r>
            <a:r>
              <a:rPr lang="en-IN" dirty="0"/>
              <a:t> only selected protocols and skips rest.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IN" dirty="0"/>
              <a:t>Together, they provide accurate, fast, and real-time network protection.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909180-6B4F-532F-0073-A3B443DD4489}"/>
              </a:ext>
            </a:extLst>
          </p:cNvPr>
          <p:cNvSpPr txBox="1"/>
          <p:nvPr/>
        </p:nvSpPr>
        <p:spPr>
          <a:xfrm>
            <a:off x="612140" y="3629403"/>
            <a:ext cx="11196320" cy="3013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Custom IoC Feed Server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IN" dirty="0"/>
              <a:t>Aggregates </a:t>
            </a:r>
            <a:r>
              <a:rPr lang="en-IN" dirty="0" err="1"/>
              <a:t>IoCs</a:t>
            </a:r>
            <a:r>
              <a:rPr lang="en-IN" dirty="0"/>
              <a:t> from multiple open threat servers (STIX/TAXII, OTX, </a:t>
            </a:r>
            <a:r>
              <a:rPr lang="en-IN" dirty="0" err="1"/>
              <a:t>Anomali</a:t>
            </a:r>
            <a:r>
              <a:rPr lang="en-IN" dirty="0"/>
              <a:t>, etc.).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IN" dirty="0"/>
              <a:t>Supplies optimized IoC lists to the firewall for real-time dynamic blocking.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IN" dirty="0"/>
              <a:t>Maintains local caching   →    works even when external feeds are offline</a:t>
            </a:r>
            <a:r>
              <a:rPr lang="en-IN" sz="1400" dirty="0"/>
              <a:t>.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IN" dirty="0"/>
              <a:t>Can validate and verify IoC Signatures before deployment.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endParaRPr lang="en-IN" dirty="0"/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5921356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C60042-84E7-C187-991A-64F9E3E31D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E330A8D4-76F9-6839-5A7B-93364B7CD182}"/>
              </a:ext>
            </a:extLst>
          </p:cNvPr>
          <p:cNvCxnSpPr>
            <a:cxnSpLocks/>
          </p:cNvCxnSpPr>
          <p:nvPr/>
        </p:nvCxnSpPr>
        <p:spPr>
          <a:xfrm>
            <a:off x="0" y="1044514"/>
            <a:ext cx="12192000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B4F80F06-CA18-0140-BF37-DE895B336AAE}"/>
              </a:ext>
            </a:extLst>
          </p:cNvPr>
          <p:cNvSpPr txBox="1"/>
          <p:nvPr/>
        </p:nvSpPr>
        <p:spPr>
          <a:xfrm>
            <a:off x="381000" y="203225"/>
            <a:ext cx="11430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tx1">
                    <a:lumMod val="75000"/>
                    <a:lumOff val="25000"/>
                  </a:schemeClr>
                </a:solidFill>
                <a:cs typeface="Times New Roman" panose="02020603050405020304" pitchFamily="18" charset="0"/>
              </a:rPr>
              <a:t>UNIFIED MONITORING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187DB9E7-5551-58E3-CD89-FF257A0658F0}"/>
              </a:ext>
            </a:extLst>
          </p:cNvPr>
          <p:cNvSpPr txBox="1">
            <a:spLocks/>
          </p:cNvSpPr>
          <p:nvPr/>
        </p:nvSpPr>
        <p:spPr>
          <a:xfrm>
            <a:off x="815921" y="1430230"/>
            <a:ext cx="9640043" cy="452596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2000" b="1" dirty="0"/>
              <a:t>Web Dashboards</a:t>
            </a:r>
          </a:p>
          <a:p>
            <a:pPr marL="0" indent="0">
              <a:buNone/>
            </a:pPr>
            <a:r>
              <a:rPr lang="en-IN" sz="1800" dirty="0"/>
              <a:t>	Built and configured dashboards for administrative control and monitoring of SUTMS.</a:t>
            </a:r>
          </a:p>
          <a:p>
            <a:pPr marL="0" indent="0">
              <a:buNone/>
            </a:pPr>
            <a:endParaRPr lang="en-IN" sz="1800" b="1" dirty="0"/>
          </a:p>
          <a:p>
            <a:pPr marL="0" indent="0">
              <a:buNone/>
            </a:pPr>
            <a:r>
              <a:rPr lang="en-IN" sz="1800" b="1" dirty="0"/>
              <a:t>Core Functions:</a:t>
            </a:r>
          </a:p>
          <a:p>
            <a:pPr lvl="2">
              <a:lnSpc>
                <a:spcPct val="150000"/>
              </a:lnSpc>
            </a:pPr>
            <a:r>
              <a:rPr lang="en-IN" sz="1800" dirty="0"/>
              <a:t>Update or modify custom firewall rules dynamically.</a:t>
            </a:r>
          </a:p>
          <a:p>
            <a:pPr lvl="2">
              <a:lnSpc>
                <a:spcPct val="150000"/>
              </a:lnSpc>
            </a:pPr>
            <a:r>
              <a:rPr lang="en-IN" sz="1800" dirty="0"/>
              <a:t>Option to by-pass SUTMS blocking (for work-from-home flexibility).</a:t>
            </a:r>
          </a:p>
          <a:p>
            <a:pPr lvl="2">
              <a:lnSpc>
                <a:spcPct val="150000"/>
              </a:lnSpc>
            </a:pPr>
            <a:r>
              <a:rPr lang="en-IN" sz="1800" dirty="0"/>
              <a:t>Resource Monitoring: Tracks CPU, RAM, and disk usage in real time.</a:t>
            </a:r>
          </a:p>
          <a:p>
            <a:pPr lvl="2">
              <a:lnSpc>
                <a:spcPct val="150000"/>
              </a:lnSpc>
            </a:pPr>
            <a:r>
              <a:rPr lang="en-IN" sz="1800" dirty="0"/>
              <a:t>Network Status Dashboard: Displays traffic flow, bandwidth, and device activity.</a:t>
            </a:r>
          </a:p>
          <a:p>
            <a:pPr lvl="2">
              <a:lnSpc>
                <a:spcPct val="150000"/>
              </a:lnSpc>
            </a:pPr>
            <a:r>
              <a:rPr lang="en-IN" sz="1800" dirty="0"/>
              <a:t>Extends to integrate </a:t>
            </a:r>
            <a:r>
              <a:rPr lang="en-IN" sz="1800" dirty="0" err="1"/>
              <a:t>NTOPng</a:t>
            </a:r>
            <a:r>
              <a:rPr lang="en-IN" sz="1800" dirty="0"/>
              <a:t> and Suricata web interfaces for deeper analytics.</a:t>
            </a:r>
          </a:p>
        </p:txBody>
      </p:sp>
    </p:spTree>
    <p:extLst>
      <p:ext uri="{BB962C8B-B14F-4D97-AF65-F5344CB8AC3E}">
        <p14:creationId xmlns:p14="http://schemas.microsoft.com/office/powerpoint/2010/main" val="12071156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C918CE-B93F-2F0B-D5C1-58B1707D03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DDD3063B-CA11-C64D-067E-99F7AFA3D934}"/>
              </a:ext>
            </a:extLst>
          </p:cNvPr>
          <p:cNvCxnSpPr>
            <a:cxnSpLocks/>
          </p:cNvCxnSpPr>
          <p:nvPr/>
        </p:nvCxnSpPr>
        <p:spPr>
          <a:xfrm>
            <a:off x="0" y="1044514"/>
            <a:ext cx="12192000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E94135FA-B903-BC37-46E6-DF2C6F27819E}"/>
              </a:ext>
            </a:extLst>
          </p:cNvPr>
          <p:cNvSpPr txBox="1"/>
          <p:nvPr/>
        </p:nvSpPr>
        <p:spPr>
          <a:xfrm>
            <a:off x="381000" y="203225"/>
            <a:ext cx="11430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tx1">
                    <a:lumMod val="75000"/>
                    <a:lumOff val="25000"/>
                  </a:schemeClr>
                </a:solidFill>
                <a:cs typeface="Times New Roman" panose="02020603050405020304" pitchFamily="18" charset="0"/>
              </a:rPr>
              <a:t>PROJECT OUTCOME 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D6ABBD86-6A6F-85A2-7B35-15801537E049}"/>
              </a:ext>
            </a:extLst>
          </p:cNvPr>
          <p:cNvSpPr txBox="1">
            <a:spLocks/>
          </p:cNvSpPr>
          <p:nvPr/>
        </p:nvSpPr>
        <p:spPr>
          <a:xfrm>
            <a:off x="815921" y="1430230"/>
            <a:ext cx="9640043" cy="452596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IN" sz="1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9D7BA2C-940E-2595-97EA-652834A170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9150" y="1430230"/>
            <a:ext cx="8893700" cy="5002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05435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7FA09E-D078-A14F-B5B4-6BDA70DBA9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2D235E4B-A96B-8C15-6698-574DE816110C}"/>
              </a:ext>
            </a:extLst>
          </p:cNvPr>
          <p:cNvCxnSpPr>
            <a:cxnSpLocks/>
          </p:cNvCxnSpPr>
          <p:nvPr/>
        </p:nvCxnSpPr>
        <p:spPr>
          <a:xfrm>
            <a:off x="0" y="1044514"/>
            <a:ext cx="12192000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E0A729CD-336C-99C0-1107-35C2F420531D}"/>
              </a:ext>
            </a:extLst>
          </p:cNvPr>
          <p:cNvSpPr txBox="1"/>
          <p:nvPr/>
        </p:nvSpPr>
        <p:spPr>
          <a:xfrm>
            <a:off x="381000" y="203225"/>
            <a:ext cx="11430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tx1">
                    <a:lumMod val="75000"/>
                    <a:lumOff val="25000"/>
                  </a:schemeClr>
                </a:solidFill>
                <a:cs typeface="Times New Roman" panose="02020603050405020304" pitchFamily="18" charset="0"/>
              </a:rPr>
              <a:t>PROJECT OUTCOME 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DB42042-B41B-CFEB-5184-B1A287912585}"/>
              </a:ext>
            </a:extLst>
          </p:cNvPr>
          <p:cNvSpPr txBox="1">
            <a:spLocks/>
          </p:cNvSpPr>
          <p:nvPr/>
        </p:nvSpPr>
        <p:spPr>
          <a:xfrm>
            <a:off x="815921" y="1430230"/>
            <a:ext cx="9640043" cy="452596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IN" sz="18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5851284-FEC3-F273-036C-42901F37EC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0633" y="1359808"/>
            <a:ext cx="8910735" cy="5012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43830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338B03-33B7-8703-84ED-1A8B873FDD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B01DBDF3-2C2B-FC19-AE2B-4F3E4AE4CCA8}"/>
              </a:ext>
            </a:extLst>
          </p:cNvPr>
          <p:cNvCxnSpPr>
            <a:cxnSpLocks/>
          </p:cNvCxnSpPr>
          <p:nvPr/>
        </p:nvCxnSpPr>
        <p:spPr>
          <a:xfrm>
            <a:off x="0" y="1044514"/>
            <a:ext cx="12192000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560BC4B3-EC52-0BE4-44C8-F7A9EDF1EEDC}"/>
              </a:ext>
            </a:extLst>
          </p:cNvPr>
          <p:cNvSpPr txBox="1"/>
          <p:nvPr/>
        </p:nvSpPr>
        <p:spPr>
          <a:xfrm>
            <a:off x="381000" y="203225"/>
            <a:ext cx="11430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tx1">
                    <a:lumMod val="75000"/>
                    <a:lumOff val="25000"/>
                  </a:schemeClr>
                </a:solidFill>
                <a:cs typeface="Times New Roman" panose="02020603050405020304" pitchFamily="18" charset="0"/>
              </a:rPr>
              <a:t>PROJECT OUTCOME 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9A30039-4EB3-44DF-F4D4-34AA83AA00A5}"/>
              </a:ext>
            </a:extLst>
          </p:cNvPr>
          <p:cNvSpPr txBox="1">
            <a:spLocks/>
          </p:cNvSpPr>
          <p:nvPr/>
        </p:nvSpPr>
        <p:spPr>
          <a:xfrm>
            <a:off x="815921" y="1430230"/>
            <a:ext cx="9640043" cy="452596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IN" sz="18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506E003-F54F-3E6F-E835-9582CDE68E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389" y="1430230"/>
            <a:ext cx="10455222" cy="4894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24124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E131AA-3614-04B6-7B34-0B9B283B98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0B81DC7F-2741-F0B2-4492-6A4220DD1BC6}"/>
              </a:ext>
            </a:extLst>
          </p:cNvPr>
          <p:cNvCxnSpPr>
            <a:cxnSpLocks/>
          </p:cNvCxnSpPr>
          <p:nvPr/>
        </p:nvCxnSpPr>
        <p:spPr>
          <a:xfrm>
            <a:off x="0" y="1044514"/>
            <a:ext cx="12192000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B03046C5-6D4E-6614-853A-1FBD6EFB2E19}"/>
              </a:ext>
            </a:extLst>
          </p:cNvPr>
          <p:cNvSpPr txBox="1"/>
          <p:nvPr/>
        </p:nvSpPr>
        <p:spPr>
          <a:xfrm>
            <a:off x="381000" y="203225"/>
            <a:ext cx="11430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tx1">
                    <a:lumMod val="75000"/>
                    <a:lumOff val="25000"/>
                  </a:schemeClr>
                </a:solidFill>
                <a:cs typeface="Times New Roman" panose="02020603050405020304" pitchFamily="18" charset="0"/>
              </a:rPr>
              <a:t>PROJECT OUTCOME 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5FDFF25-7FDE-DD8B-FC72-D07CF1724C59}"/>
              </a:ext>
            </a:extLst>
          </p:cNvPr>
          <p:cNvSpPr txBox="1">
            <a:spLocks/>
          </p:cNvSpPr>
          <p:nvPr/>
        </p:nvSpPr>
        <p:spPr>
          <a:xfrm>
            <a:off x="815921" y="1430230"/>
            <a:ext cx="9640043" cy="452596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IN" sz="1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B59F9E8-E7C2-D2E5-B0CA-FEE4040755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2980" y="1552151"/>
            <a:ext cx="10226040" cy="4625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86632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4D71E8-AFE9-5C24-2627-E629390BF2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45FC36A9-54AB-4DD8-1903-AD9C27809D22}"/>
              </a:ext>
            </a:extLst>
          </p:cNvPr>
          <p:cNvCxnSpPr>
            <a:cxnSpLocks/>
          </p:cNvCxnSpPr>
          <p:nvPr/>
        </p:nvCxnSpPr>
        <p:spPr>
          <a:xfrm>
            <a:off x="0" y="1044514"/>
            <a:ext cx="12192000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09E315E7-0F82-49D0-B7C1-1DA88AE04AFD}"/>
              </a:ext>
            </a:extLst>
          </p:cNvPr>
          <p:cNvSpPr txBox="1"/>
          <p:nvPr/>
        </p:nvSpPr>
        <p:spPr>
          <a:xfrm>
            <a:off x="381000" y="203225"/>
            <a:ext cx="11430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tx1">
                    <a:lumMod val="75000"/>
                    <a:lumOff val="25000"/>
                  </a:schemeClr>
                </a:solidFill>
                <a:cs typeface="Times New Roman" panose="02020603050405020304" pitchFamily="18" charset="0"/>
              </a:rPr>
              <a:t>PROJECT OUTCOME 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5A3975D-D29C-ED1A-2EAD-1F159F61FE35}"/>
              </a:ext>
            </a:extLst>
          </p:cNvPr>
          <p:cNvSpPr txBox="1">
            <a:spLocks/>
          </p:cNvSpPr>
          <p:nvPr/>
        </p:nvSpPr>
        <p:spPr>
          <a:xfrm>
            <a:off x="815921" y="1430230"/>
            <a:ext cx="9640043" cy="452596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IN" sz="1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FFB6E89-39B5-28C4-E001-AF56E7635A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3891" y="1361494"/>
            <a:ext cx="8892073" cy="5001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00287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C5606253-4E56-45B8-E4FD-57BB8B0C199C}"/>
              </a:ext>
            </a:extLst>
          </p:cNvPr>
          <p:cNvCxnSpPr>
            <a:cxnSpLocks/>
          </p:cNvCxnSpPr>
          <p:nvPr/>
        </p:nvCxnSpPr>
        <p:spPr>
          <a:xfrm>
            <a:off x="0" y="1044514"/>
            <a:ext cx="12192000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CD039BEA-036C-9EBC-ED71-1166651D7859}"/>
              </a:ext>
            </a:extLst>
          </p:cNvPr>
          <p:cNvSpPr txBox="1"/>
          <p:nvPr/>
        </p:nvSpPr>
        <p:spPr>
          <a:xfrm>
            <a:off x="381000" y="203225"/>
            <a:ext cx="11430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tx1">
                    <a:lumMod val="75000"/>
                    <a:lumOff val="25000"/>
                  </a:schemeClr>
                </a:solidFill>
                <a:cs typeface="Times New Roman" panose="02020603050405020304" pitchFamily="18" charset="0"/>
              </a:rPr>
              <a:t>SOCIAL IMPACT &amp; SUSTAINABLITY</a:t>
            </a:r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1022755" y="1366795"/>
            <a:ext cx="9640043" cy="452596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dirty="0"/>
              <a:t>Current Home Networks Threads :</a:t>
            </a:r>
          </a:p>
          <a:p>
            <a:pPr marL="457200" lvl="1" indent="0">
              <a:buNone/>
            </a:pPr>
            <a:endParaRPr lang="en-US" sz="1800" dirty="0"/>
          </a:p>
          <a:p>
            <a:pPr marL="457200" lvl="1" indent="0">
              <a:buNone/>
            </a:pPr>
            <a:endParaRPr lang="en-US" sz="1800" dirty="0"/>
          </a:p>
          <a:p>
            <a:pPr marL="457200" lvl="1" indent="0">
              <a:buNone/>
            </a:pPr>
            <a:endParaRPr lang="en-US" sz="1800" dirty="0"/>
          </a:p>
          <a:p>
            <a:pPr marL="457200" lvl="1" indent="0">
              <a:buNone/>
            </a:pPr>
            <a:endParaRPr lang="en-US" sz="1800" dirty="0"/>
          </a:p>
          <a:p>
            <a:pPr marL="457200" lvl="1" indent="0">
              <a:buNone/>
            </a:pPr>
            <a:endParaRPr lang="en-US" sz="1800" dirty="0"/>
          </a:p>
          <a:p>
            <a:pPr marL="457200" lvl="1" indent="0">
              <a:buNone/>
            </a:pPr>
            <a:endParaRPr lang="en-US" sz="1800" dirty="0"/>
          </a:p>
          <a:p>
            <a:pPr marL="457200" lvl="1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r>
              <a:rPr lang="en-US" sz="2000" b="1" dirty="0"/>
              <a:t>Outcomes</a:t>
            </a:r>
            <a:r>
              <a:rPr lang="en-US" sz="2200" b="1" dirty="0"/>
              <a:t> :</a:t>
            </a:r>
          </a:p>
          <a:p>
            <a:pPr lvl="1">
              <a:lnSpc>
                <a:spcPct val="150000"/>
              </a:lnSpc>
            </a:pPr>
            <a:r>
              <a:rPr lang="en-US" sz="1800" dirty="0"/>
              <a:t>Protects employees working remotely with secure home network connections.</a:t>
            </a:r>
          </a:p>
          <a:p>
            <a:pPr lvl="1">
              <a:lnSpc>
                <a:spcPct val="150000"/>
              </a:lnSpc>
            </a:pPr>
            <a:r>
              <a:rPr lang="en-US" sz="1800" dirty="0"/>
              <a:t>Builds corporate confidence in remote and hybrid work environments.</a:t>
            </a:r>
          </a:p>
          <a:p>
            <a:pPr lvl="1">
              <a:lnSpc>
                <a:spcPct val="150000"/>
              </a:lnSpc>
            </a:pPr>
            <a:r>
              <a:rPr lang="en-US" sz="1800" dirty="0"/>
              <a:t>Non-technical users protect their home network easily..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4C60530-C93E-92C9-F80B-E2F1F5932CC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5897" y="1976125"/>
            <a:ext cx="3302031" cy="1847073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7E81374-8855-77C4-4432-FE47C4C3C1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6688" y="1883881"/>
            <a:ext cx="3302031" cy="1999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89481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C5606253-4E56-45B8-E4FD-57BB8B0C199C}"/>
              </a:ext>
            </a:extLst>
          </p:cNvPr>
          <p:cNvCxnSpPr>
            <a:cxnSpLocks/>
          </p:cNvCxnSpPr>
          <p:nvPr/>
        </p:nvCxnSpPr>
        <p:spPr>
          <a:xfrm>
            <a:off x="0" y="1044514"/>
            <a:ext cx="12192000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CD039BEA-036C-9EBC-ED71-1166651D7859}"/>
              </a:ext>
            </a:extLst>
          </p:cNvPr>
          <p:cNvSpPr txBox="1"/>
          <p:nvPr/>
        </p:nvSpPr>
        <p:spPr>
          <a:xfrm>
            <a:off x="381000" y="203225"/>
            <a:ext cx="11430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tx1">
                    <a:lumMod val="75000"/>
                    <a:lumOff val="25000"/>
                  </a:schemeClr>
                </a:solidFill>
                <a:cs typeface="Times New Roman" panose="02020603050405020304" pitchFamily="18" charset="0"/>
              </a:rPr>
              <a:t>FUTURE ENHANCEMENTS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960783" y="1292304"/>
            <a:ext cx="10270434" cy="46198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1. SSL/TLS Inspection:</a:t>
            </a:r>
            <a:br>
              <a:rPr lang="en-US" dirty="0"/>
            </a:br>
            <a:r>
              <a:rPr lang="en-US" dirty="0"/>
              <a:t>	Improve handling of encrypted traffic by enabling secure and efficient packet decryption for malware hidden within SSL/TLS layers.</a:t>
            </a:r>
          </a:p>
          <a:p>
            <a:pPr>
              <a:lnSpc>
                <a:spcPct val="150000"/>
              </a:lnSpc>
            </a:pPr>
            <a:endParaRPr lang="en-US" b="1" dirty="0"/>
          </a:p>
          <a:p>
            <a:pPr>
              <a:lnSpc>
                <a:spcPct val="150000"/>
              </a:lnSpc>
            </a:pPr>
            <a:r>
              <a:rPr lang="en-US" b="1" dirty="0"/>
              <a:t>2. Threat Feed Validation:</a:t>
            </a:r>
            <a:br>
              <a:rPr lang="en-US" dirty="0"/>
            </a:br>
            <a:r>
              <a:rPr lang="en-US" dirty="0"/>
              <a:t>	Develop verified and AI/</a:t>
            </a:r>
            <a:r>
              <a:rPr lang="en-US" dirty="0" err="1"/>
              <a:t>blockchain</a:t>
            </a:r>
            <a:r>
              <a:rPr lang="en-US" dirty="0"/>
              <a:t>-powered systems to validate Indicators of Compromise (</a:t>
            </a:r>
            <a:r>
              <a:rPr lang="en-US" dirty="0" err="1"/>
              <a:t>IoCs</a:t>
            </a:r>
            <a:r>
              <a:rPr lang="en-US" dirty="0"/>
              <a:t>) from multiple sources, ensuring accuracy and reducing false positives.</a:t>
            </a:r>
          </a:p>
          <a:p>
            <a:pPr>
              <a:lnSpc>
                <a:spcPct val="150000"/>
              </a:lnSpc>
            </a:pPr>
            <a:endParaRPr lang="en-US" b="1" dirty="0"/>
          </a:p>
          <a:p>
            <a:pPr>
              <a:lnSpc>
                <a:spcPct val="150000"/>
              </a:lnSpc>
            </a:pPr>
            <a:r>
              <a:rPr lang="en-US" b="1" dirty="0"/>
              <a:t>3. IDS Optimization:</a:t>
            </a:r>
            <a:br>
              <a:rPr lang="en-US" dirty="0"/>
            </a:br>
            <a:r>
              <a:rPr lang="en-US" dirty="0"/>
              <a:t>	Create smarter, open-source detection engines with data-mining algorithms (like </a:t>
            </a:r>
            <a:r>
              <a:rPr lang="en-US" dirty="0" err="1"/>
              <a:t>Apriori</a:t>
            </a:r>
            <a:r>
              <a:rPr lang="en-US" dirty="0"/>
              <a:t>) to reduce false alerts, adapt to new applications, and defend against zero-day threats.</a:t>
            </a:r>
          </a:p>
        </p:txBody>
      </p:sp>
    </p:spTree>
    <p:extLst>
      <p:ext uri="{BB962C8B-B14F-4D97-AF65-F5344CB8AC3E}">
        <p14:creationId xmlns:p14="http://schemas.microsoft.com/office/powerpoint/2010/main" val="41660164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C5606253-4E56-45B8-E4FD-57BB8B0C199C}"/>
              </a:ext>
            </a:extLst>
          </p:cNvPr>
          <p:cNvCxnSpPr>
            <a:cxnSpLocks/>
          </p:cNvCxnSpPr>
          <p:nvPr/>
        </p:nvCxnSpPr>
        <p:spPr>
          <a:xfrm>
            <a:off x="0" y="1044514"/>
            <a:ext cx="12192000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CD039BEA-036C-9EBC-ED71-1166651D7859}"/>
              </a:ext>
            </a:extLst>
          </p:cNvPr>
          <p:cNvSpPr txBox="1"/>
          <p:nvPr/>
        </p:nvSpPr>
        <p:spPr>
          <a:xfrm>
            <a:off x="381000" y="203225"/>
            <a:ext cx="11430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tx1">
                    <a:lumMod val="75000"/>
                    <a:lumOff val="25000"/>
                  </a:schemeClr>
                </a:solidFill>
                <a:cs typeface="Times New Roman" panose="02020603050405020304" pitchFamily="18" charset="0"/>
              </a:rPr>
              <a:t>SUTMS – Commercial Deployment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960783" y="1416594"/>
            <a:ext cx="10270434" cy="32502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A home-network security device offering enterprise-level protection for laptops, mobiles, and IoT devices.</a:t>
            </a:r>
            <a:endParaRPr lang="en-US" b="1" dirty="0"/>
          </a:p>
          <a:p>
            <a:pPr>
              <a:lnSpc>
                <a:spcPct val="150000"/>
              </a:lnSpc>
            </a:pPr>
            <a:endParaRPr lang="en-US" b="1" dirty="0"/>
          </a:p>
          <a:p>
            <a:pPr>
              <a:lnSpc>
                <a:spcPct val="150000"/>
              </a:lnSpc>
              <a:spcAft>
                <a:spcPts val="1200"/>
              </a:spcAft>
            </a:pPr>
            <a:r>
              <a:rPr lang="en-US" sz="2400" b="1" dirty="0"/>
              <a:t>Target Customers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Remote employees working from home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Small offices / home offices (SOHO)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Houses with many smart/IoT devices</a:t>
            </a:r>
            <a:endParaRPr lang="en-US" b="1" dirty="0"/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Home users who want better security</a:t>
            </a:r>
          </a:p>
        </p:txBody>
      </p:sp>
    </p:spTree>
    <p:extLst>
      <p:ext uri="{BB962C8B-B14F-4D97-AF65-F5344CB8AC3E}">
        <p14:creationId xmlns:p14="http://schemas.microsoft.com/office/powerpoint/2010/main" val="34337713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5850758-1A60-030F-E54A-4F5B8286DFEA}"/>
              </a:ext>
            </a:extLst>
          </p:cNvPr>
          <p:cNvSpPr txBox="1"/>
          <p:nvPr/>
        </p:nvSpPr>
        <p:spPr>
          <a:xfrm>
            <a:off x="0" y="2418080"/>
            <a:ext cx="12192000" cy="120032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sz="7200" b="1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Q &amp; A</a:t>
            </a:r>
            <a:endParaRPr lang="en-US" sz="7200" dirty="0">
              <a:solidFill>
                <a:schemeClr val="tx1">
                  <a:lumMod val="75000"/>
                  <a:lumOff val="25000"/>
                </a:schemeClr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7592383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8537C3-9B63-2607-214B-9C419D9B44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B26BE5-9BEA-1D5C-7DF6-53F0A2F5C2E6}"/>
              </a:ext>
            </a:extLst>
          </p:cNvPr>
          <p:cNvSpPr txBox="1"/>
          <p:nvPr/>
        </p:nvSpPr>
        <p:spPr>
          <a:xfrm>
            <a:off x="0" y="2418080"/>
            <a:ext cx="12192000" cy="120032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sz="7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THANK YOU</a:t>
            </a:r>
            <a:endParaRPr lang="en-US" sz="7200" dirty="0">
              <a:solidFill>
                <a:schemeClr val="tx1">
                  <a:lumMod val="75000"/>
                  <a:lumOff val="25000"/>
                </a:schemeClr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7160641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864</TotalTime>
  <Words>1149</Words>
  <Application>Microsoft Office PowerPoint</Application>
  <PresentationFormat>Widescreen</PresentationFormat>
  <Paragraphs>148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welcome</dc:creator>
  <cp:lastModifiedBy>ADMIN</cp:lastModifiedBy>
  <cp:revision>13</cp:revision>
  <dcterms:created xsi:type="dcterms:W3CDTF">2025-10-13T04:54:55Z</dcterms:created>
  <dcterms:modified xsi:type="dcterms:W3CDTF">2025-11-18T03:50:33Z</dcterms:modified>
</cp:coreProperties>
</file>