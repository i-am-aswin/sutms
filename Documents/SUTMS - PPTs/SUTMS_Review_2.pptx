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8" r:id="rId4"/>
    <p:sldId id="262" r:id="rId5"/>
    <p:sldId id="263" r:id="rId6"/>
    <p:sldId id="264" r:id="rId7"/>
    <p:sldId id="265" r:id="rId8"/>
    <p:sldId id="266" r:id="rId9"/>
    <p:sldId id="261" r:id="rId10"/>
    <p:sldId id="260" r:id="rId11"/>
    <p:sldId id="25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4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6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6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0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0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13EA-8A6E-487B-9060-0DADB87D5D8E}" type="datetimeFigureOut">
              <a:rPr lang="en-US" smtClean="0"/>
              <a:t>13-Oct-25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2430380" y="1061764"/>
            <a:ext cx="7331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DESIGNING A UNIFIED THREAT MANAGEMENT SYSTEM FOR HOME NETWORKS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C539A3-42FB-5C23-4FA9-ED348F163BCD}"/>
              </a:ext>
            </a:extLst>
          </p:cNvPr>
          <p:cNvCxnSpPr>
            <a:cxnSpLocks/>
          </p:cNvCxnSpPr>
          <p:nvPr/>
        </p:nvCxnSpPr>
        <p:spPr>
          <a:xfrm>
            <a:off x="2157664" y="1266302"/>
            <a:ext cx="0" cy="134753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87D846-1C60-96E1-CCE8-449542619D8F}"/>
              </a:ext>
            </a:extLst>
          </p:cNvPr>
          <p:cNvSpPr txBox="1"/>
          <p:nvPr/>
        </p:nvSpPr>
        <p:spPr>
          <a:xfrm>
            <a:off x="6322192" y="3212990"/>
            <a:ext cx="514123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Guided by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M. Blessy Queen Mary M.E, PH.D.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D8102-B56B-008B-1EBD-F4F0533D8D98}"/>
              </a:ext>
            </a:extLst>
          </p:cNvPr>
          <p:cNvSpPr txBox="1"/>
          <p:nvPr/>
        </p:nvSpPr>
        <p:spPr>
          <a:xfrm>
            <a:off x="6322192" y="4136753"/>
            <a:ext cx="5141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Team Members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Aswin S 		- 	71772218102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Janardhan M 	- 	71772218116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Praghadeesh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 	- 	71772218138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Iyappan K 	- 	71772218L04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993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DESIGN APPROACH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55964" y="1400663"/>
            <a:ext cx="78368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Inline Deployment (SUTMS as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WiFi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Access Point)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	SUTMS replaces router — full control, high protection.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Inline Deployment (with Existing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WiFi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Router)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	Placed between modem &amp; router — easy setup, balanced performance.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Out-of-Band Deployment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	Monitors traffic only — detects but doesn’t block.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964" y="4502459"/>
            <a:ext cx="2343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PREFERED APPROACH: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4782" y="4882084"/>
            <a:ext cx="9314471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Inline with Existing </a:t>
            </a:r>
            <a:r>
              <a:rPr lang="en-US" b="1" dirty="0" err="1"/>
              <a:t>WiFi</a:t>
            </a:r>
            <a:r>
              <a:rPr lang="en-US" b="1" dirty="0"/>
              <a:t> Router</a:t>
            </a:r>
            <a:r>
              <a:rPr lang="en-US" dirty="0"/>
              <a:t> — best balance of </a:t>
            </a:r>
            <a:r>
              <a:rPr lang="en-US" b="1" dirty="0"/>
              <a:t>security, simplicity, and performance</a:t>
            </a:r>
            <a:r>
              <a:rPr lang="en-US" dirty="0"/>
              <a:t> for home networks.</a:t>
            </a:r>
          </a:p>
        </p:txBody>
      </p:sp>
    </p:spTree>
    <p:extLst>
      <p:ext uri="{BB962C8B-B14F-4D97-AF65-F5344CB8AC3E}">
        <p14:creationId xmlns:p14="http://schemas.microsoft.com/office/powerpoint/2010/main" val="90275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CC9B-C65C-12A6-7C73-F9354412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0B391A-67EF-B692-FBE0-4E3BA1C778C2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68B636-7166-D573-2EBE-A095184864A4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ENVIRONMENT SIMULATION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0A3E26-E384-93FF-41B1-B1EA234AC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08" y="1239473"/>
            <a:ext cx="7104509" cy="518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REQUIREMENTS: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SUTMS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Home Network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Router &amp; Devices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/>
              <a:t>SETUP OVERVIEW: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VirtualBox</a:t>
            </a:r>
            <a:r>
              <a:rPr lang="en-US" dirty="0"/>
              <a:t> used to simulate the production environment.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Virtual Network (</a:t>
            </a:r>
            <a:r>
              <a:rPr lang="en-US" b="1" dirty="0" err="1"/>
              <a:t>homenet</a:t>
            </a:r>
            <a:r>
              <a:rPr lang="en-US" b="1" dirty="0"/>
              <a:t>)</a:t>
            </a:r>
            <a:r>
              <a:rPr lang="en-US" dirty="0"/>
              <a:t> created to represent the home setup.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SUTMS VM (Ubuntu 22.04):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	Connects to both </a:t>
            </a:r>
            <a:r>
              <a:rPr lang="en-US" b="1" dirty="0"/>
              <a:t>external</a:t>
            </a:r>
            <a:r>
              <a:rPr lang="en-US" dirty="0"/>
              <a:t> and </a:t>
            </a:r>
            <a:r>
              <a:rPr lang="en-US" b="1" dirty="0"/>
              <a:t>internal</a:t>
            </a:r>
            <a:r>
              <a:rPr lang="en-US" dirty="0"/>
              <a:t> virtual networks.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Home Devices: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	Multiple VMs act as individual network devices.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8087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NTOP – OVERVIEW &amp; FLOW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ntop</a:t>
            </a:r>
            <a:r>
              <a:rPr lang="en-US" sz="1800" dirty="0"/>
              <a:t> (or </a:t>
            </a:r>
            <a:r>
              <a:rPr lang="en-US" sz="1800" dirty="0" err="1"/>
              <a:t>ntopng</a:t>
            </a:r>
            <a:r>
              <a:rPr lang="en-US" sz="1800" dirty="0"/>
              <a:t>) is a network traffic monitoring tool.</a:t>
            </a:r>
          </a:p>
          <a:p>
            <a:r>
              <a:rPr lang="en-US" sz="1800" dirty="0"/>
              <a:t>Detects and analyzes flows (communication sessions between devices).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FLOW MEANING:</a:t>
            </a:r>
          </a:p>
          <a:p>
            <a:r>
              <a:rPr lang="en-US" sz="1800" dirty="0"/>
              <a:t>A flow = conversation between Source IP &amp; Port ↔ Destination IP &amp; Port using TCP/UDP.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WORKING: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Packet Capture: </a:t>
            </a:r>
            <a:r>
              <a:rPr lang="en-US" sz="1800" dirty="0"/>
              <a:t>Captures packets from network interfaces using </a:t>
            </a:r>
            <a:r>
              <a:rPr lang="en-US" sz="1800" dirty="0" err="1"/>
              <a:t>libpcap</a:t>
            </a:r>
            <a:r>
              <a:rPr lang="en-US" sz="1800" dirty="0"/>
              <a:t> or PF_RING.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Packet Decode: </a:t>
            </a:r>
            <a:r>
              <a:rPr lang="en-US" sz="1800" dirty="0"/>
              <a:t>Extracts Source IP, Destination IP, Ports, Protocol, Timestamp.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Flow Creation: </a:t>
            </a:r>
            <a:r>
              <a:rPr lang="en-US" sz="1800" dirty="0"/>
              <a:t>Combines fields (</a:t>
            </a:r>
            <a:r>
              <a:rPr lang="en-US" sz="1800" dirty="0" err="1"/>
              <a:t>srcIP</a:t>
            </a:r>
            <a:r>
              <a:rPr lang="en-US" sz="1800" dirty="0"/>
              <a:t>, </a:t>
            </a:r>
            <a:r>
              <a:rPr lang="en-US" sz="1800" dirty="0" err="1"/>
              <a:t>dstIP</a:t>
            </a:r>
            <a:r>
              <a:rPr lang="en-US" sz="1800" dirty="0"/>
              <a:t>, </a:t>
            </a:r>
            <a:r>
              <a:rPr lang="en-US" sz="1800" dirty="0" err="1"/>
              <a:t>srcPort</a:t>
            </a:r>
            <a:r>
              <a:rPr lang="en-US" sz="1800" dirty="0"/>
              <a:t>, </a:t>
            </a:r>
            <a:r>
              <a:rPr lang="en-US" sz="1800" dirty="0" err="1"/>
              <a:t>dstPort</a:t>
            </a:r>
            <a:r>
              <a:rPr lang="en-US" sz="1800" dirty="0"/>
              <a:t>, protocol) → Flow Key.</a:t>
            </a:r>
          </a:p>
        </p:txBody>
      </p:sp>
    </p:spTree>
    <p:extLst>
      <p:ext uri="{BB962C8B-B14F-4D97-AF65-F5344CB8AC3E}">
        <p14:creationId xmlns:p14="http://schemas.microsoft.com/office/powerpoint/2010/main" val="291207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NTOP – FLOW TABLE, DPI &amp; VISUALIZATION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22755" y="1366795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FLOW TABLE: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Stores active flows in memory using a Hash Table.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2.   FLOW TIMEOUT: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Idle flows are expired → moved to history or exported.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3.    DPI (DEEP PACKET INSPECTION):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800" dirty="0"/>
              <a:t>	Uses </a:t>
            </a:r>
            <a:r>
              <a:rPr lang="fr-FR" sz="1800" dirty="0" err="1"/>
              <a:t>nDPI</a:t>
            </a:r>
            <a:r>
              <a:rPr lang="fr-FR" sz="1800" dirty="0"/>
              <a:t> to </a:t>
            </a:r>
            <a:r>
              <a:rPr lang="fr-FR" sz="1800" dirty="0" err="1"/>
              <a:t>identify</a:t>
            </a:r>
            <a:r>
              <a:rPr lang="fr-FR" sz="1800" dirty="0"/>
              <a:t> applications (HTTP, DNS, HTTPS, etc.).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4.    OUTPUT &amp; VISUALIZATION: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Shows flows, bandwidth usage, and alerts on the web dashboard.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5894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SURICATA – OVERVIEW &amp; FLOW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15921" y="1193174"/>
            <a:ext cx="4951933" cy="88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Open-source IDS/IPS by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OISF.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Detects and blocks network attacks in real time.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15921" y="2222202"/>
            <a:ext cx="9640043" cy="35524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FLOW SUMMARY: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	Network Traffic → Packet Capture → Rule Matching → Alert/Block → Logs &amp; Reports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INTEGRATION WITH OTHER MODULES: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With </a:t>
            </a:r>
            <a:r>
              <a:rPr lang="en-US" sz="1800" b="1" dirty="0" err="1"/>
              <a:t>NTOPng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800" dirty="0"/>
              <a:t>       	Uses flow data from </a:t>
            </a:r>
            <a:r>
              <a:rPr lang="en-US" sz="1800" dirty="0" err="1"/>
              <a:t>NTOPng</a:t>
            </a:r>
            <a:r>
              <a:rPr lang="en-US" sz="1800" dirty="0"/>
              <a:t> for focused packet inspection.</a:t>
            </a:r>
          </a:p>
          <a:p>
            <a:pPr marL="0" indent="0">
              <a:buNone/>
            </a:pPr>
            <a:r>
              <a:rPr lang="en-US" sz="1800" b="1" dirty="0"/>
              <a:t>2.   With </a:t>
            </a:r>
            <a:r>
              <a:rPr lang="en-US" sz="1800" b="1" dirty="0" err="1"/>
              <a:t>IPtables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800" dirty="0"/>
              <a:t>       	Shares malicious IPs and alerts to firewall.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5919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15802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SURICATA – OVERVIEW &amp; FLOW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31669" y="1411975"/>
            <a:ext cx="9636018" cy="41322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DETECTION CONCEPT :</a:t>
            </a:r>
          </a:p>
          <a:p>
            <a:pPr lvl="1"/>
            <a:r>
              <a:rPr lang="en-US" sz="1800" dirty="0"/>
              <a:t>Uses signature &amp; protocol-based detection.</a:t>
            </a:r>
          </a:p>
          <a:p>
            <a:pPr lvl="1"/>
            <a:r>
              <a:rPr lang="en-US" sz="1800" dirty="0"/>
              <a:t>Performs </a:t>
            </a:r>
            <a:r>
              <a:rPr lang="en-US" sz="1400" dirty="0"/>
              <a:t>deep packet inspection (DPI) for payload analysis.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1800" b="1" dirty="0"/>
              <a:t>WORKING: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Packet Capture: </a:t>
            </a:r>
            <a:r>
              <a:rPr lang="en-US" sz="1800" dirty="0"/>
              <a:t>Captures packets from the network interface using </a:t>
            </a:r>
            <a:r>
              <a:rPr lang="en-US" sz="1800" dirty="0" err="1"/>
              <a:t>libpcap</a:t>
            </a:r>
            <a:r>
              <a:rPr lang="en-US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Packet Decode: </a:t>
            </a:r>
            <a:r>
              <a:rPr lang="en-US" sz="1800" dirty="0"/>
              <a:t>: Extracts header info (source/destination IP, ports, protocol).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Rule Matching: </a:t>
            </a:r>
            <a:r>
              <a:rPr lang="en-US" sz="1800" dirty="0"/>
              <a:t>Compares packets with predefined rules to detect threats.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Protocol Analysis: </a:t>
            </a:r>
            <a:r>
              <a:rPr lang="en-IN" sz="1800" dirty="0"/>
              <a:t>Examines protocols (HTTP, DNS, FTP, TLS, etc.) for anomalies.</a:t>
            </a:r>
          </a:p>
          <a:p>
            <a:pPr marL="0" indent="0">
              <a:buNone/>
            </a:pPr>
            <a:r>
              <a:rPr lang="en-IN" sz="1800" b="1" dirty="0"/>
              <a:t>5.   Alert/Block Action: </a:t>
            </a:r>
            <a:r>
              <a:rPr lang="en-IN" sz="1800" dirty="0"/>
              <a:t> IDS mode → Generates alert logs.</a:t>
            </a:r>
          </a:p>
          <a:p>
            <a:pPr marL="0" indent="0">
              <a:buNone/>
            </a:pPr>
            <a:r>
              <a:rPr lang="en-IN" sz="1800" dirty="0"/>
              <a:t>           		        IPS mode → Drops or blocks malicious packets.</a:t>
            </a: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6.   Logging &amp; Reporting: </a:t>
            </a:r>
            <a:r>
              <a:rPr lang="en-IN" sz="1800" dirty="0"/>
              <a:t>Logging &amp; Reporting: Records details for further analysis and tuning.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6698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15802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DYNAMIC FIREWALL (IP TABLES + THREAT FEEDS)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6288" y="1472300"/>
            <a:ext cx="101394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A script runs on the firewall server.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The script connects to a TAXII server to download the latest threat feed.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The feed contains malicious IPs/domains (</a:t>
            </a:r>
            <a:r>
              <a:rPr dirty="0" err="1"/>
              <a:t>IoCs</a:t>
            </a:r>
            <a:r>
              <a:rPr dirty="0"/>
              <a:t>) collected from global sources.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The script converts these IPs into </a:t>
            </a:r>
            <a:r>
              <a:rPr dirty="0" err="1"/>
              <a:t>iptables</a:t>
            </a:r>
            <a:r>
              <a:rPr dirty="0"/>
              <a:t> rules.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Old rules are removed, and new rules are inserted automatically.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When a packet arrives, </a:t>
            </a:r>
            <a:r>
              <a:rPr dirty="0" err="1"/>
              <a:t>iptables</a:t>
            </a:r>
            <a:r>
              <a:rPr dirty="0"/>
              <a:t> checks the source IP: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   </a:t>
            </a:r>
            <a:r>
              <a:rPr lang="en-US" dirty="0"/>
              <a:t>	</a:t>
            </a:r>
            <a:r>
              <a:rPr dirty="0"/>
              <a:t>If the IP is in the threat list → Blocked immediately.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  <a:latin typeface="Calibri"/>
              </a:defRPr>
            </a:pPr>
            <a:r>
              <a:rPr dirty="0"/>
              <a:t>   </a:t>
            </a:r>
            <a:r>
              <a:rPr lang="en-US" dirty="0"/>
              <a:t>	</a:t>
            </a:r>
            <a:r>
              <a:rPr dirty="0"/>
              <a:t>Otherwise → Allowed to pass.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7.   </a:t>
            </a:r>
            <a:r>
              <a:rPr dirty="0"/>
              <a:t>All blocked IPs are logged for future analysis.</a:t>
            </a:r>
          </a:p>
          <a:p>
            <a:pPr algn="l">
              <a:lnSpc>
                <a:spcPct val="150000"/>
              </a:lnSpc>
              <a:defRPr sz="180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8.   </a:t>
            </a:r>
            <a:r>
              <a:rPr dirty="0"/>
              <a:t>This ensures harmful traffic is stopped before reaching the system.</a:t>
            </a:r>
          </a:p>
        </p:txBody>
      </p:sp>
    </p:spTree>
    <p:extLst>
      <p:ext uri="{BB962C8B-B14F-4D97-AF65-F5344CB8AC3E}">
        <p14:creationId xmlns:p14="http://schemas.microsoft.com/office/powerpoint/2010/main" val="76449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61159" y="1327963"/>
            <a:ext cx="8809848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Environment Simulation Complexity:</a:t>
            </a:r>
            <a:br>
              <a:rPr lang="en-US" dirty="0"/>
            </a:br>
            <a:r>
              <a:rPr lang="en-US" dirty="0"/>
              <a:t>	Complexity in connecting a VirtualBox VM to a cluster of Docker containers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Single Point of Failure:</a:t>
            </a:r>
            <a:br>
              <a:rPr lang="en-US" dirty="0"/>
            </a:br>
            <a:r>
              <a:rPr lang="en-US" dirty="0"/>
              <a:t>	Failure of SUTMS affects the entire Home Network’s Connectivity.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Hardware Compatibility:</a:t>
            </a:r>
            <a:br>
              <a:rPr lang="en-US" dirty="0"/>
            </a:br>
            <a:r>
              <a:rPr lang="en-US" dirty="0"/>
              <a:t>	Software and tool version mismatches across different Raspberry Pi devices.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Resource Limitation:</a:t>
            </a:r>
            <a:br>
              <a:rPr lang="en-US" dirty="0"/>
            </a:br>
            <a:r>
              <a:rPr lang="en-US" dirty="0"/>
              <a:t>	Running multiple VMs under VirtualBox consumes significant system resources.</a:t>
            </a:r>
          </a:p>
        </p:txBody>
      </p:sp>
    </p:spTree>
    <p:extLst>
      <p:ext uri="{BB962C8B-B14F-4D97-AF65-F5344CB8AC3E}">
        <p14:creationId xmlns:p14="http://schemas.microsoft.com/office/powerpoint/2010/main" val="266968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YET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703" y="1444486"/>
            <a:ext cx="8993524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Integration of </a:t>
            </a:r>
            <a:r>
              <a:rPr lang="en-US" dirty="0" err="1"/>
              <a:t>ntop</a:t>
            </a:r>
            <a:r>
              <a:rPr lang="en-US" dirty="0"/>
              <a:t>, </a:t>
            </a:r>
            <a:r>
              <a:rPr lang="en-US" dirty="0" err="1"/>
              <a:t>suricata</a:t>
            </a:r>
            <a:r>
              <a:rPr lang="en-US" dirty="0"/>
              <a:t> &amp; iptables.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Expanding IP tables with STIX/TAXII to introduce anti-bot functionality.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Test the setup with various cyber threat scenarios.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Develop peripheral modules – Routing and Logging</a:t>
            </a:r>
          </a:p>
        </p:txBody>
      </p:sp>
    </p:spTree>
    <p:extLst>
      <p:ext uri="{BB962C8B-B14F-4D97-AF65-F5344CB8AC3E}">
        <p14:creationId xmlns:p14="http://schemas.microsoft.com/office/powerpoint/2010/main" val="139882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783" y="1376283"/>
            <a:ext cx="1027043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SSL/TLS Inspection:</a:t>
            </a:r>
            <a:br>
              <a:rPr lang="en-US" dirty="0"/>
            </a:br>
            <a:r>
              <a:rPr lang="en-US" dirty="0"/>
              <a:t>	Improve handling of encrypted traffic by enabling secure and efficient packet decryption for malware hidden within SSL/TLS layers.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Threat Feed Validation:</a:t>
            </a:r>
            <a:br>
              <a:rPr lang="en-US" dirty="0"/>
            </a:br>
            <a:r>
              <a:rPr lang="en-US" dirty="0"/>
              <a:t>	Develop verified and AI/</a:t>
            </a:r>
            <a:r>
              <a:rPr lang="en-US" dirty="0" err="1"/>
              <a:t>blockchain</a:t>
            </a:r>
            <a:r>
              <a:rPr lang="en-US" dirty="0"/>
              <a:t>-powered systems to validate Indicators of Compromise (</a:t>
            </a:r>
            <a:r>
              <a:rPr lang="en-US" dirty="0" err="1"/>
              <a:t>IoCs</a:t>
            </a:r>
            <a:r>
              <a:rPr lang="en-US" dirty="0"/>
              <a:t>) from multiple sources, ensuring accuracy and reducing false positives.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IDS Optimization:</a:t>
            </a:r>
            <a:br>
              <a:rPr lang="en-US" dirty="0"/>
            </a:br>
            <a:r>
              <a:rPr lang="en-US" dirty="0"/>
              <a:t>	Create smarter, open-source detection engines with data-mining algorithms (like </a:t>
            </a:r>
            <a:r>
              <a:rPr lang="en-US" dirty="0" err="1"/>
              <a:t>Apriori</a:t>
            </a:r>
            <a:r>
              <a:rPr lang="en-US" dirty="0"/>
              <a:t>) to reduce false alerts, adapt to new applications, and defend against zero-day threats.</a:t>
            </a:r>
          </a:p>
        </p:txBody>
      </p:sp>
    </p:spTree>
    <p:extLst>
      <p:ext uri="{BB962C8B-B14F-4D97-AF65-F5344CB8AC3E}">
        <p14:creationId xmlns:p14="http://schemas.microsoft.com/office/powerpoint/2010/main" val="4166016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0" y="2418080"/>
            <a:ext cx="1219200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sz="72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92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922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Aswin Senthilkumar</cp:lastModifiedBy>
  <cp:revision>7</cp:revision>
  <dcterms:created xsi:type="dcterms:W3CDTF">2025-10-13T04:54:55Z</dcterms:created>
  <dcterms:modified xsi:type="dcterms:W3CDTF">2025-10-13T09:25:20Z</dcterms:modified>
</cp:coreProperties>
</file>