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6" r:id="rId4"/>
    <p:sldId id="262" r:id="rId5"/>
    <p:sldId id="271" r:id="rId6"/>
    <p:sldId id="272" r:id="rId7"/>
    <p:sldId id="268" r:id="rId8"/>
    <p:sldId id="269" r:id="rId9"/>
    <p:sldId id="270" r:id="rId10"/>
    <p:sldId id="273" r:id="rId11"/>
    <p:sldId id="275" r:id="rId12"/>
    <p:sldId id="274" r:id="rId13"/>
    <p:sldId id="263" r:id="rId14"/>
    <p:sldId id="261" r:id="rId15"/>
    <p:sldId id="259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4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73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6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6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44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0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0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29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013EA-8A6E-487B-9060-0DADB87D5D8E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96FC0-856D-418F-82F9-A8A48D7B45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50758-1A60-030F-E54A-4F5B8286DFEA}"/>
              </a:ext>
            </a:extLst>
          </p:cNvPr>
          <p:cNvSpPr txBox="1"/>
          <p:nvPr/>
        </p:nvSpPr>
        <p:spPr>
          <a:xfrm>
            <a:off x="2430380" y="1061764"/>
            <a:ext cx="7331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DESIGNING A UNIFIED THREAT MANAGEMENT SYSTEM FOR HOME NETWORKS</a:t>
            </a:r>
            <a:endParaRPr lang="en-US" sz="3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C539A3-42FB-5C23-4FA9-ED348F163BCD}"/>
              </a:ext>
            </a:extLst>
          </p:cNvPr>
          <p:cNvCxnSpPr>
            <a:cxnSpLocks/>
          </p:cNvCxnSpPr>
          <p:nvPr/>
        </p:nvCxnSpPr>
        <p:spPr>
          <a:xfrm>
            <a:off x="2157664" y="1266302"/>
            <a:ext cx="0" cy="1347537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987D846-1C60-96E1-CCE8-449542619D8F}"/>
              </a:ext>
            </a:extLst>
          </p:cNvPr>
          <p:cNvSpPr txBox="1"/>
          <p:nvPr/>
        </p:nvSpPr>
        <p:spPr>
          <a:xfrm>
            <a:off x="6322192" y="3212990"/>
            <a:ext cx="5141238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Guided by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M. Blessy Queen Mary M.E, PH.D.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D8102-B56B-008B-1EBD-F4F0533D8D98}"/>
              </a:ext>
            </a:extLst>
          </p:cNvPr>
          <p:cNvSpPr txBox="1"/>
          <p:nvPr/>
        </p:nvSpPr>
        <p:spPr>
          <a:xfrm>
            <a:off x="6322192" y="4136753"/>
            <a:ext cx="51412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Team Members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Aswin S 		- 	71772218102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Janardhan M 	- 	71772218116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Praghadeesh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 	- 	71772218138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Iyappan K 	- 	71772218L04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7993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1316" y="1479342"/>
            <a:ext cx="9887450" cy="2446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design 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Smart Unified Threat Management System (SUTMS)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home networks.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Provide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corporate-grade security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personal/home devices like laptops, mobiles, and IoT gadgets.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Develop a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lightweight, cost-effective, and easy-to-deploy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solution using Raspberry Pi.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Ensure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multi-layered protection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Flow detection, Intrusion detection, Firewall, Anti-bot protection.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Reduce CPU/memory usage while maintaining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 detection accuracy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(≈99%).</a:t>
            </a:r>
          </a:p>
          <a:p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75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6102D-602E-09CA-B816-58DAEF101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D6B7985-8C9B-B49B-C706-ECD2563CF58B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D0726B3-98DF-6E76-268C-4B96B9184DF8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6646A3-1FFF-14AB-239E-8C79F7081A34}"/>
              </a:ext>
            </a:extLst>
          </p:cNvPr>
          <p:cNvSpPr txBox="1"/>
          <p:nvPr/>
        </p:nvSpPr>
        <p:spPr>
          <a:xfrm>
            <a:off x="955964" y="4819713"/>
            <a:ext cx="2637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DEPLOYMENT STRATEGY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7B3EF-8544-40B8-F0E8-1699DE46CD9B}"/>
              </a:ext>
            </a:extLst>
          </p:cNvPr>
          <p:cNvSpPr txBox="1"/>
          <p:nvPr/>
        </p:nvSpPr>
        <p:spPr>
          <a:xfrm>
            <a:off x="1544782" y="5227331"/>
            <a:ext cx="9314471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Inline with Existing  Router</a:t>
            </a:r>
            <a:r>
              <a:rPr lang="en-US" dirty="0"/>
              <a:t> — Lives between internal network and external network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A3DB80-FAEA-D1BA-8730-9026206E8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64" y="1599920"/>
            <a:ext cx="9179728" cy="285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24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INNOVATION &amp; TECHNOLOGIES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200" b="1" dirty="0"/>
              <a:t>INTEGRATION OF NTOP AND SURICATA: </a:t>
            </a:r>
          </a:p>
          <a:p>
            <a:pPr marL="0" indent="0">
              <a:buNone/>
            </a:pPr>
            <a:r>
              <a:rPr lang="en-IN" sz="2000" b="1" dirty="0" err="1"/>
              <a:t>NTOPng</a:t>
            </a:r>
            <a:endParaRPr lang="en-IN" sz="2000" b="1" dirty="0"/>
          </a:p>
          <a:p>
            <a:pPr lvl="1">
              <a:lnSpc>
                <a:spcPct val="100000"/>
              </a:lnSpc>
            </a:pPr>
            <a:r>
              <a:rPr lang="en-IN" sz="1800" dirty="0"/>
              <a:t>Monitors real-time network traffic and active connections.</a:t>
            </a:r>
          </a:p>
          <a:p>
            <a:pPr lvl="1">
              <a:lnSpc>
                <a:spcPct val="100000"/>
              </a:lnSpc>
            </a:pPr>
            <a:r>
              <a:rPr lang="en-IN" sz="1800" dirty="0"/>
              <a:t>Detects flow patterns, bandwidth usage, and anomalies.</a:t>
            </a:r>
          </a:p>
          <a:p>
            <a:pPr marL="0" indent="0">
              <a:buNone/>
            </a:pPr>
            <a:r>
              <a:rPr lang="en-IN" sz="2000" b="1" dirty="0"/>
              <a:t>Suricata</a:t>
            </a:r>
          </a:p>
          <a:p>
            <a:pPr lvl="1">
              <a:lnSpc>
                <a:spcPct val="100000"/>
              </a:lnSpc>
            </a:pPr>
            <a:r>
              <a:rPr lang="en-IN" sz="1800" dirty="0"/>
              <a:t>Performs deep packet inspection to detect intrusions and attacks.</a:t>
            </a:r>
          </a:p>
          <a:p>
            <a:pPr lvl="1">
              <a:lnSpc>
                <a:spcPct val="100000"/>
              </a:lnSpc>
            </a:pPr>
            <a:r>
              <a:rPr lang="en-IN" sz="1800" dirty="0"/>
              <a:t>Uses IDS/IPS rules to alert or block malicious packets.</a:t>
            </a:r>
          </a:p>
          <a:p>
            <a:pPr marL="0" indent="0">
              <a:buNone/>
            </a:pPr>
            <a:r>
              <a:rPr lang="en-IN" sz="2000" b="1" dirty="0"/>
              <a:t>Integration of </a:t>
            </a:r>
            <a:r>
              <a:rPr lang="en-IN" sz="2000" b="1" dirty="0" err="1"/>
              <a:t>NTOPng</a:t>
            </a:r>
            <a:r>
              <a:rPr lang="en-IN" sz="2000" b="1" dirty="0"/>
              <a:t> and Suricata </a:t>
            </a:r>
          </a:p>
          <a:p>
            <a:pPr lvl="1">
              <a:lnSpc>
                <a:spcPct val="100000"/>
              </a:lnSpc>
            </a:pPr>
            <a:r>
              <a:rPr lang="en-IN" sz="1800" dirty="0" err="1"/>
              <a:t>NTOPng</a:t>
            </a:r>
            <a:r>
              <a:rPr lang="en-IN" sz="1800" dirty="0"/>
              <a:t> collects flow data from all connected devices.</a:t>
            </a:r>
          </a:p>
          <a:p>
            <a:pPr lvl="1">
              <a:lnSpc>
                <a:spcPct val="100000"/>
              </a:lnSpc>
            </a:pPr>
            <a:r>
              <a:rPr lang="en-IN" sz="1800" dirty="0"/>
              <a:t>Flow details are shared with Suricata for focused packet inspection.</a:t>
            </a:r>
          </a:p>
          <a:p>
            <a:pPr lvl="1">
              <a:lnSpc>
                <a:spcPct val="100000"/>
              </a:lnSpc>
            </a:pPr>
            <a:r>
              <a:rPr lang="en-IN" sz="1800" dirty="0"/>
              <a:t>Suricata </a:t>
            </a:r>
            <a:r>
              <a:rPr lang="en-IN" sz="1800" dirty="0" err="1"/>
              <a:t>analyzes</a:t>
            </a:r>
            <a:r>
              <a:rPr lang="en-IN" sz="1800" dirty="0"/>
              <a:t> only suspicious or abnormal flows for threats.</a:t>
            </a:r>
          </a:p>
          <a:p>
            <a:pPr lvl="1">
              <a:lnSpc>
                <a:spcPct val="100000"/>
              </a:lnSpc>
            </a:pPr>
            <a:r>
              <a:rPr lang="en-IN" sz="1800" dirty="0"/>
              <a:t>Together, they provide accurate, fast, and real-time network protection.</a:t>
            </a:r>
          </a:p>
        </p:txBody>
      </p:sp>
    </p:spTree>
    <p:extLst>
      <p:ext uri="{BB962C8B-B14F-4D97-AF65-F5344CB8AC3E}">
        <p14:creationId xmlns:p14="http://schemas.microsoft.com/office/powerpoint/2010/main" val="2912071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0A761-CBF2-6617-ADEB-E945E8900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CBAC56-3322-C7C8-DAD9-F7269EFAE608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E9DF3A5-9D62-D76B-4CB7-857592397FA6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INNOVATION &amp; TECHNOLOGIES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2A2BA1-37F7-B1E2-4DDE-481551EEF358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 err="1"/>
              <a:t>NTOPng</a:t>
            </a:r>
            <a:r>
              <a:rPr lang="en-IN" sz="2000" b="1" dirty="0"/>
              <a:t> Integration</a:t>
            </a:r>
            <a:endParaRPr lang="en-US" sz="2000" b="1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A6446-995D-5132-0AD9-F5C4D67F4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75" y="2008728"/>
            <a:ext cx="4241107" cy="4136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727692-5D98-7BEE-47EE-B4039B2604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153" y="1999396"/>
            <a:ext cx="4241107" cy="418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3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81A57-E3AC-ECCD-C304-51A68C02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A3BED34-86EF-9AC9-1A9D-6B3C6A15FE39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A13A16-7169-95BB-BFC3-B7390A38C9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INNOVATION &amp; TECHNOLOGIES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74A1AC8-F7BE-2C06-6F7F-7EDEF174ADA9}"/>
              </a:ext>
            </a:extLst>
          </p:cNvPr>
          <p:cNvSpPr txBox="1">
            <a:spLocks/>
          </p:cNvSpPr>
          <p:nvPr/>
        </p:nvSpPr>
        <p:spPr>
          <a:xfrm>
            <a:off x="815921" y="1420899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/>
              <a:t>Suricata Integration</a:t>
            </a:r>
            <a:endParaRPr lang="en-US" sz="2000" b="1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192EB-B752-0F06-FB4A-B78E352DE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28" y="2006083"/>
            <a:ext cx="4667917" cy="4202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CEA1CA-8233-FFBC-4580-DE8B60157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290" y="2179745"/>
            <a:ext cx="5419725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13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C735-C16D-F80F-8566-29BFC2EA8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B11E323-3239-BC10-6B1D-B6F1F239E168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DF0798-B22F-5C52-756E-0509EE181B48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INNOVATION &amp; TECHNOLOGIES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E2ADC9E-FA20-52F1-95A9-6FC90E3366D2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IN" sz="2000" b="1" dirty="0"/>
              <a:t>Custom IoC Feed Server: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Aggregates </a:t>
            </a:r>
            <a:r>
              <a:rPr lang="en-IN" sz="1800" dirty="0" err="1"/>
              <a:t>IoCs</a:t>
            </a:r>
            <a:r>
              <a:rPr lang="en-IN" sz="1800" dirty="0"/>
              <a:t> from multiple open threat servers (STIX/TAXII, OTX, </a:t>
            </a:r>
            <a:r>
              <a:rPr lang="en-IN" sz="1800" dirty="0" err="1"/>
              <a:t>Anomali</a:t>
            </a:r>
            <a:r>
              <a:rPr lang="en-IN" sz="1800" dirty="0"/>
              <a:t>, etc.).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Performs data normalization, filtering, and duplication removal before deployment.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Supplies optimized IoC lists to the firewall for real-time dynamic blocking.</a:t>
            </a:r>
          </a:p>
          <a:p>
            <a:pPr lvl="1">
              <a:lnSpc>
                <a:spcPct val="150000"/>
              </a:lnSpc>
            </a:pPr>
            <a:r>
              <a:rPr lang="en-IN" sz="1800" dirty="0"/>
              <a:t>Maintains local caching   →    works even when external feeds are offline</a:t>
            </a:r>
            <a:r>
              <a:rPr lang="en-IN" sz="1400" dirty="0"/>
              <a:t>.</a:t>
            </a:r>
          </a:p>
          <a:p>
            <a:pPr marL="457200" lvl="1" indent="0">
              <a:buNone/>
            </a:pPr>
            <a:endParaRPr lang="en-IN" sz="1400" dirty="0"/>
          </a:p>
          <a:p>
            <a:pPr marL="457200" lvl="1" indent="0">
              <a:buNone/>
            </a:pPr>
            <a:r>
              <a:rPr lang="en-IN" sz="1800" b="1" dirty="0"/>
              <a:t>Extended Opportunities: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400" dirty="0"/>
              <a:t> </a:t>
            </a:r>
            <a:r>
              <a:rPr lang="en-IN" sz="1800" dirty="0"/>
              <a:t>Adds Scope to verify and </a:t>
            </a:r>
            <a:r>
              <a:rPr lang="en-US" sz="1800" dirty="0"/>
              <a:t>validate IoC signatures </a:t>
            </a:r>
            <a:endParaRPr lang="en-IN" sz="1800" dirty="0"/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1800" dirty="0"/>
              <a:t> </a:t>
            </a:r>
            <a:r>
              <a:rPr lang="en-US" sz="1800" dirty="0"/>
              <a:t>Enables customization of threat feeds specific to organizational</a:t>
            </a:r>
            <a:endParaRPr lang="en-IN" sz="1800" dirty="0"/>
          </a:p>
          <a:p>
            <a:pPr marL="457200" lvl="1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57011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60042-84E7-C187-991A-64F9E3E31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30A8D4-76F9-6839-5A7B-93364B7CD182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4F80F06-CA18-0140-BF37-DE895B336AAE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INNOVATION &amp; TECHNOLOGIES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87DB9E7-5551-58E3-CD89-FF257A0658F0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/>
              <a:t>Web Dashboard</a:t>
            </a:r>
          </a:p>
          <a:p>
            <a:pPr marL="0" indent="0">
              <a:buNone/>
            </a:pPr>
            <a:r>
              <a:rPr lang="en-IN" sz="1800" dirty="0"/>
              <a:t>           Built for administrative control and monitoring of SUTMS.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     Core Functions: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Update or modify custom firewall rules dynamically.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Option to pause SUTMS blocking (for work-from-home flexibility).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Resource Monitoring: Tracks CPU, RAM, and disk usage in real time.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Network Status Dashboard: Displays traffic flow, bandwidth, and device activity.</a:t>
            </a:r>
          </a:p>
          <a:p>
            <a:pPr lvl="2">
              <a:lnSpc>
                <a:spcPct val="150000"/>
              </a:lnSpc>
            </a:pPr>
            <a:r>
              <a:rPr lang="en-IN" sz="1800" dirty="0"/>
              <a:t>Extends to integrate </a:t>
            </a:r>
            <a:r>
              <a:rPr lang="en-IN" sz="1800" dirty="0" err="1"/>
              <a:t>NTOPng</a:t>
            </a:r>
            <a:r>
              <a:rPr lang="en-IN" sz="1800" dirty="0"/>
              <a:t> and Suricata web interfaces for deeper analytics.</a:t>
            </a:r>
          </a:p>
        </p:txBody>
      </p:sp>
    </p:spTree>
    <p:extLst>
      <p:ext uri="{BB962C8B-B14F-4D97-AF65-F5344CB8AC3E}">
        <p14:creationId xmlns:p14="http://schemas.microsoft.com/office/powerpoint/2010/main" val="120711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918CE-B93F-2F0B-D5C1-58B1707D0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D3063B-CA11-C64D-067E-99F7AFA3D934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94135FA-B903-BC37-46E6-DF2C6F27819E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ABBD86-6A6F-85A2-7B35-15801537E049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7BA2C-940E-2595-97EA-652834A17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965" y="1430230"/>
            <a:ext cx="8893700" cy="500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43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A09E-D078-A14F-B5B4-6BDA70DBA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235E4B-A96B-8C15-6698-574DE816110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0A729CD-336C-99C0-1107-35C2F420531D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DB42042-B41B-CFEB-5184-B1A287912585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851284-FEC3-F273-036C-42901F37E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574" y="1329328"/>
            <a:ext cx="8910735" cy="501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8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38B03-33B7-8703-84ED-1A8B873F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01DBDF3-2C2B-FC19-AE2B-4F3E4AE4CCA8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0BC4B3-EC52-0BE4-44C8-F7A9EDF1EEDC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9A30039-4EB3-44DF-F4D4-34AA83AA00A5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B42F0D-6AF8-96D7-55C1-C0B64ED61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08" y="1235271"/>
            <a:ext cx="6003236" cy="15800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06E003-F54F-3E6F-E835-9582CDE68E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08" y="3010235"/>
            <a:ext cx="7399990" cy="346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412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D71E8-AFE9-5C24-2627-E629390B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5FC36A9-54AB-4DD8-1903-AD9C27809D22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9E315E7-0F82-49D0-B7C1-1DA88AE04AFD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PROJECT OUTCOME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A3975D-D29C-ED1A-2EAD-1F159F61FE35}"/>
              </a:ext>
            </a:extLst>
          </p:cNvPr>
          <p:cNvSpPr txBox="1">
            <a:spLocks/>
          </p:cNvSpPr>
          <p:nvPr/>
        </p:nvSpPr>
        <p:spPr>
          <a:xfrm>
            <a:off x="815921" y="1430230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B6E89-39B5-28C4-E001-AF56E7635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891" y="1346254"/>
            <a:ext cx="8892073" cy="5001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28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SOCIAL IMPACT &amp; SUSTAINABLITY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22755" y="1366795"/>
            <a:ext cx="9640043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Current Home Networks Threads :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Outcomes</a:t>
            </a:r>
            <a:r>
              <a:rPr lang="en-US" sz="2200" b="1" dirty="0"/>
              <a:t> :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Protects employees working remotely with secure home network connections.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Builds corporate confidence in remote and hybrid work environments.</a:t>
            </a:r>
          </a:p>
          <a:p>
            <a:pPr lvl="1">
              <a:lnSpc>
                <a:spcPct val="150000"/>
              </a:lnSpc>
            </a:pPr>
            <a:r>
              <a:rPr lang="en-US" sz="1800" dirty="0"/>
              <a:t>Non-technical users protect their home network easily..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C60530-C93E-92C9-F80B-E2F1F5932C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897" y="1976125"/>
            <a:ext cx="3302031" cy="184707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E6947E-AD77-0BC4-0132-0C9F0BE4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99" y="1942312"/>
            <a:ext cx="3635829" cy="188088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958948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036954" y="1426199"/>
            <a:ext cx="1011809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Resource Limitation: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Running multiple VMs on one machine reduced performance → moved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cloud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Hardware Compatibility: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Issues across different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Raspberry Pi versions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Software Limitation: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Docker on other operating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made setup and integration difficult.</a:t>
            </a:r>
          </a:p>
        </p:txBody>
      </p:sp>
    </p:spTree>
    <p:extLst>
      <p:ext uri="{BB962C8B-B14F-4D97-AF65-F5344CB8AC3E}">
        <p14:creationId xmlns:p14="http://schemas.microsoft.com/office/powerpoint/2010/main" val="2669687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606253-4E56-45B8-E4FD-57BB8B0C199C}"/>
              </a:ext>
            </a:extLst>
          </p:cNvPr>
          <p:cNvCxnSpPr>
            <a:cxnSpLocks/>
          </p:cNvCxnSpPr>
          <p:nvPr/>
        </p:nvCxnSpPr>
        <p:spPr>
          <a:xfrm>
            <a:off x="0" y="1044514"/>
            <a:ext cx="1219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D039BEA-036C-9EBC-ED71-1166651D7859}"/>
              </a:ext>
            </a:extLst>
          </p:cNvPr>
          <p:cNvSpPr txBox="1"/>
          <p:nvPr/>
        </p:nvSpPr>
        <p:spPr>
          <a:xfrm>
            <a:off x="381000" y="203225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783" y="1292304"/>
            <a:ext cx="10270434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SSL/TLS Inspection:</a:t>
            </a:r>
            <a:br>
              <a:rPr lang="en-US" dirty="0"/>
            </a:br>
            <a:r>
              <a:rPr lang="en-US" dirty="0"/>
              <a:t>	Improve handling of encrypted traffic by enabling secure and efficient packet decryption for malware hidden within SSL/TLS layers.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2. Threat Feed Validation:</a:t>
            </a:r>
            <a:br>
              <a:rPr lang="en-US" dirty="0"/>
            </a:br>
            <a:r>
              <a:rPr lang="en-US" dirty="0"/>
              <a:t>	Develop verified and AI/</a:t>
            </a:r>
            <a:r>
              <a:rPr lang="en-US" dirty="0" err="1"/>
              <a:t>blockchain</a:t>
            </a:r>
            <a:r>
              <a:rPr lang="en-US" dirty="0"/>
              <a:t>-powered systems to validate Indicators of Compromise (</a:t>
            </a:r>
            <a:r>
              <a:rPr lang="en-US" dirty="0" err="1"/>
              <a:t>IoCs</a:t>
            </a:r>
            <a:r>
              <a:rPr lang="en-US" dirty="0"/>
              <a:t>) from multiple sources, ensuring accuracy and reducing false positives.</a:t>
            </a:r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3. IDS Optimization:</a:t>
            </a:r>
            <a:br>
              <a:rPr lang="en-US" dirty="0"/>
            </a:br>
            <a:r>
              <a:rPr lang="en-US" dirty="0"/>
              <a:t>	Create smarter, open-source detection engines with data-mining algorithms (like </a:t>
            </a:r>
            <a:r>
              <a:rPr lang="en-US" dirty="0" err="1"/>
              <a:t>Apriori</a:t>
            </a:r>
            <a:r>
              <a:rPr lang="en-US" dirty="0"/>
              <a:t>) to reduce false alerts, adapt to new applications, and defend against zero-day threats.</a:t>
            </a:r>
          </a:p>
        </p:txBody>
      </p:sp>
    </p:spTree>
    <p:extLst>
      <p:ext uri="{BB962C8B-B14F-4D97-AF65-F5344CB8AC3E}">
        <p14:creationId xmlns:p14="http://schemas.microsoft.com/office/powerpoint/2010/main" val="4166016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850758-1A60-030F-E54A-4F5B8286DFEA}"/>
              </a:ext>
            </a:extLst>
          </p:cNvPr>
          <p:cNvSpPr txBox="1"/>
          <p:nvPr/>
        </p:nvSpPr>
        <p:spPr>
          <a:xfrm>
            <a:off x="0" y="2418080"/>
            <a:ext cx="1219200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  <a:endParaRPr lang="en-US" sz="72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92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607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welcome</dc:creator>
  <cp:lastModifiedBy>JANARDHAN .</cp:lastModifiedBy>
  <cp:revision>9</cp:revision>
  <dcterms:created xsi:type="dcterms:W3CDTF">2025-10-13T04:54:55Z</dcterms:created>
  <dcterms:modified xsi:type="dcterms:W3CDTF">2025-11-04T03:07:53Z</dcterms:modified>
</cp:coreProperties>
</file>